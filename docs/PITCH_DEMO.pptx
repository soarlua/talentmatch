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D9663E4-0260-4AE8-B17B-C73E0679857F}" v="4" dt="2026-05-15T14:02:24.1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9" d="100"/>
          <a:sy n="109" d="100"/>
        </p:scale>
        <p:origin x="691" y="3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bosa Diniz, Sofia" userId="7df14296-6125-49ec-a4f5-4260895b8cd0" providerId="ADAL" clId="{AB103130-9596-4E2D-B338-D09A3A47D381}"/>
    <pc:docChg chg="undo redo custSel modSld">
      <pc:chgData name="Barbosa Diniz, Sofia" userId="7df14296-6125-49ec-a4f5-4260895b8cd0" providerId="ADAL" clId="{AB103130-9596-4E2D-B338-D09A3A47D381}" dt="2026-05-15T14:02:48.463" v="355"/>
      <pc:docMkLst>
        <pc:docMk/>
      </pc:docMkLst>
      <pc:sldChg chg="modSp mod">
        <pc:chgData name="Barbosa Diniz, Sofia" userId="7df14296-6125-49ec-a4f5-4260895b8cd0" providerId="ADAL" clId="{AB103130-9596-4E2D-B338-D09A3A47D381}" dt="2026-05-15T13:55:42.352" v="37" actId="20577"/>
        <pc:sldMkLst>
          <pc:docMk/>
          <pc:sldMk cId="0" sldId="257"/>
        </pc:sldMkLst>
        <pc:spChg chg="mod">
          <ac:chgData name="Barbosa Diniz, Sofia" userId="7df14296-6125-49ec-a4f5-4260895b8cd0" providerId="ADAL" clId="{AB103130-9596-4E2D-B338-D09A3A47D381}" dt="2026-05-15T13:55:42.352" v="37" actId="20577"/>
          <ac:spMkLst>
            <pc:docMk/>
            <pc:sldMk cId="0" sldId="257"/>
            <ac:spMk id="19" creationId="{00000000-0000-0000-0000-000000000000}"/>
          </ac:spMkLst>
        </pc:spChg>
      </pc:sldChg>
      <pc:sldChg chg="modSp mod">
        <pc:chgData name="Barbosa Diniz, Sofia" userId="7df14296-6125-49ec-a4f5-4260895b8cd0" providerId="ADAL" clId="{AB103130-9596-4E2D-B338-D09A3A47D381}" dt="2026-05-15T13:55:39.848" v="35" actId="20577"/>
        <pc:sldMkLst>
          <pc:docMk/>
          <pc:sldMk cId="0" sldId="258"/>
        </pc:sldMkLst>
        <pc:spChg chg="mod">
          <ac:chgData name="Barbosa Diniz, Sofia" userId="7df14296-6125-49ec-a4f5-4260895b8cd0" providerId="ADAL" clId="{AB103130-9596-4E2D-B338-D09A3A47D381}" dt="2026-05-15T13:55:39.848" v="35" actId="20577"/>
          <ac:spMkLst>
            <pc:docMk/>
            <pc:sldMk cId="0" sldId="258"/>
            <ac:spMk id="20" creationId="{00000000-0000-0000-0000-000000000000}"/>
          </ac:spMkLst>
        </pc:spChg>
        <pc:spChg chg="mod">
          <ac:chgData name="Barbosa Diniz, Sofia" userId="7df14296-6125-49ec-a4f5-4260895b8cd0" providerId="ADAL" clId="{AB103130-9596-4E2D-B338-D09A3A47D381}" dt="2026-05-15T13:55:39.404" v="34" actId="20577"/>
          <ac:spMkLst>
            <pc:docMk/>
            <pc:sldMk cId="0" sldId="258"/>
            <ac:spMk id="21" creationId="{00000000-0000-0000-0000-000000000000}"/>
          </ac:spMkLst>
        </pc:spChg>
      </pc:sldChg>
      <pc:sldChg chg="addSp delSp modSp mod">
        <pc:chgData name="Barbosa Diniz, Sofia" userId="7df14296-6125-49ec-a4f5-4260895b8cd0" providerId="ADAL" clId="{AB103130-9596-4E2D-B338-D09A3A47D381}" dt="2026-05-15T14:02:48.463" v="355"/>
        <pc:sldMkLst>
          <pc:docMk/>
          <pc:sldMk cId="0" sldId="259"/>
        </pc:sldMkLst>
        <pc:spChg chg="add mod">
          <ac:chgData name="Barbosa Diniz, Sofia" userId="7df14296-6125-49ec-a4f5-4260895b8cd0" providerId="ADAL" clId="{AB103130-9596-4E2D-B338-D09A3A47D381}" dt="2026-05-15T14:02:48.463" v="355"/>
          <ac:spMkLst>
            <pc:docMk/>
            <pc:sldMk cId="0" sldId="259"/>
            <ac:spMk id="7" creationId="{1F5D939C-E044-8F06-2DF8-F3B39EF1DF1C}"/>
          </ac:spMkLst>
        </pc:spChg>
        <pc:graphicFrameChg chg="add del mod">
          <ac:chgData name="Barbosa Diniz, Sofia" userId="7df14296-6125-49ec-a4f5-4260895b8cd0" providerId="ADAL" clId="{AB103130-9596-4E2D-B338-D09A3A47D381}" dt="2026-05-15T14:02:20.482" v="352" actId="21"/>
          <ac:graphicFrameMkLst>
            <pc:docMk/>
            <pc:sldMk cId="0" sldId="259"/>
            <ac:graphicFrameMk id="8" creationId="{21703BA7-73FE-FA02-DCD4-8CFBC244ABF4}"/>
          </ac:graphicFrameMkLst>
        </pc:graphicFrameChg>
        <pc:graphicFrameChg chg="add mod">
          <ac:chgData name="Barbosa Diniz, Sofia" userId="7df14296-6125-49ec-a4f5-4260895b8cd0" providerId="ADAL" clId="{AB103130-9596-4E2D-B338-D09A3A47D381}" dt="2026-05-15T14:02:23.355" v="353"/>
          <ac:graphicFrameMkLst>
            <pc:docMk/>
            <pc:sldMk cId="0" sldId="259"/>
            <ac:graphicFrameMk id="9" creationId="{21703BA7-73FE-FA02-DCD4-8CFBC244ABF4}"/>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6056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1A"/>
        </a:solidFill>
        <a:effectLst/>
      </p:bgPr>
    </p:bg>
    <p:spTree>
      <p:nvGrpSpPr>
        <p:cNvPr id="1" name=""/>
        <p:cNvGrpSpPr/>
        <p:nvPr/>
      </p:nvGrpSpPr>
      <p:grpSpPr>
        <a:xfrm>
          <a:off x="0" y="0"/>
          <a:ext cx="0" cy="0"/>
          <a:chOff x="0" y="0"/>
          <a:chExt cx="0" cy="0"/>
        </a:xfrm>
      </p:grpSpPr>
      <p:sp>
        <p:nvSpPr>
          <p:cNvPr id="2" name="Shape 0"/>
          <p:cNvSpPr/>
          <p:nvPr/>
        </p:nvSpPr>
        <p:spPr>
          <a:xfrm>
            <a:off x="5943600" y="0"/>
            <a:ext cx="3200400" cy="1097280"/>
          </a:xfrm>
          <a:prstGeom prst="rect">
            <a:avLst/>
          </a:prstGeom>
          <a:solidFill>
            <a:srgbClr val="A100FF"/>
          </a:solidFill>
          <a:ln/>
        </p:spPr>
        <p:txBody>
          <a:bodyPr/>
          <a:lstStyle/>
          <a:p>
            <a:endParaRPr lang="pt-PT"/>
          </a:p>
        </p:txBody>
      </p:sp>
      <p:sp>
        <p:nvSpPr>
          <p:cNvPr id="3" name="Shape 1"/>
          <p:cNvSpPr/>
          <p:nvPr/>
        </p:nvSpPr>
        <p:spPr>
          <a:xfrm>
            <a:off x="731520" y="1645920"/>
            <a:ext cx="548640" cy="54864"/>
          </a:xfrm>
          <a:prstGeom prst="rect">
            <a:avLst/>
          </a:prstGeom>
          <a:solidFill>
            <a:srgbClr val="B733FF"/>
          </a:solidFill>
          <a:ln/>
        </p:spPr>
        <p:txBody>
          <a:bodyPr/>
          <a:lstStyle/>
          <a:p>
            <a:endParaRPr lang="pt-PT"/>
          </a:p>
        </p:txBody>
      </p:sp>
      <p:pic>
        <p:nvPicPr>
          <p:cNvPr id="4" name="Image 0" descr="preencoded.png"/>
          <p:cNvPicPr>
            <a:picLocks noChangeAspect="1"/>
          </p:cNvPicPr>
          <p:nvPr/>
        </p:nvPicPr>
        <p:blipFill>
          <a:blip r:embed="rId3"/>
          <a:stretch>
            <a:fillRect/>
          </a:stretch>
        </p:blipFill>
        <p:spPr>
          <a:xfrm>
            <a:off x="731520" y="1874520"/>
            <a:ext cx="457200" cy="457200"/>
          </a:xfrm>
          <a:prstGeom prst="rect">
            <a:avLst/>
          </a:prstGeom>
        </p:spPr>
      </p:pic>
      <p:sp>
        <p:nvSpPr>
          <p:cNvPr id="5" name="Text 2"/>
          <p:cNvSpPr/>
          <p:nvPr/>
        </p:nvSpPr>
        <p:spPr>
          <a:xfrm>
            <a:off x="731520" y="2377440"/>
            <a:ext cx="6400800" cy="1463040"/>
          </a:xfrm>
          <a:prstGeom prst="rect">
            <a:avLst/>
          </a:prstGeom>
          <a:noFill/>
          <a:ln/>
        </p:spPr>
        <p:txBody>
          <a:bodyPr wrap="square" lIns="0" tIns="0" rIns="0" bIns="0" rtlCol="0" anchor="ctr"/>
          <a:lstStyle/>
          <a:p>
            <a:pPr marL="0" indent="0">
              <a:lnSpc>
                <a:spcPct val="110000"/>
              </a:lnSpc>
              <a:buNone/>
            </a:pPr>
            <a:r>
              <a:rPr lang="en-US" sz="4000" b="1">
                <a:solidFill>
                  <a:srgbClr val="FFFFFF"/>
                </a:solidFill>
                <a:latin typeface="Trebuchet MS" pitchFamily="34" charset="0"/>
                <a:ea typeface="Trebuchet MS" pitchFamily="34" charset="-122"/>
                <a:cs typeface="Trebuchet MS" pitchFamily="34" charset="-120"/>
              </a:rPr>
              <a:t>TalentMatch AI</a:t>
            </a:r>
            <a:endParaRPr lang="en-US" sz="4000" dirty="0"/>
          </a:p>
          <a:p>
            <a:pPr marL="0" indent="0">
              <a:lnSpc>
                <a:spcPct val="110000"/>
              </a:lnSpc>
              <a:buNone/>
            </a:pPr>
            <a:r>
              <a:rPr lang="en-US" sz="4000" b="1" dirty="0">
                <a:solidFill>
                  <a:srgbClr val="FFFFFF"/>
                </a:solidFill>
                <a:latin typeface="Trebuchet MS" pitchFamily="34" charset="0"/>
                <a:ea typeface="Trebuchet MS" pitchFamily="34" charset="-122"/>
                <a:cs typeface="Trebuchet MS" pitchFamily="34" charset="-120"/>
              </a:rPr>
              <a:t>Pitch Demo</a:t>
            </a:r>
            <a:endParaRPr lang="en-US" sz="4000" dirty="0"/>
          </a:p>
        </p:txBody>
      </p:sp>
      <p:sp>
        <p:nvSpPr>
          <p:cNvPr id="6" name="Text 3"/>
          <p:cNvSpPr/>
          <p:nvPr/>
        </p:nvSpPr>
        <p:spPr>
          <a:xfrm>
            <a:off x="731520" y="3931920"/>
            <a:ext cx="5486400" cy="457200"/>
          </a:xfrm>
          <a:prstGeom prst="rect">
            <a:avLst/>
          </a:prstGeom>
          <a:noFill/>
          <a:ln/>
        </p:spPr>
        <p:txBody>
          <a:bodyPr wrap="square" lIns="0" tIns="0" rIns="0" bIns="0" rtlCol="0" anchor="ctr"/>
          <a:lstStyle/>
          <a:p>
            <a:pPr marL="0" indent="0">
              <a:buNone/>
            </a:pPr>
            <a:endParaRPr lang="en-US" sz="1600" dirty="0"/>
          </a:p>
        </p:txBody>
      </p:sp>
      <p:sp>
        <p:nvSpPr>
          <p:cNvPr id="7" name="Shape 4"/>
          <p:cNvSpPr/>
          <p:nvPr/>
        </p:nvSpPr>
        <p:spPr>
          <a:xfrm>
            <a:off x="0" y="4892040"/>
            <a:ext cx="9144000" cy="251460"/>
          </a:xfrm>
          <a:prstGeom prst="rect">
            <a:avLst/>
          </a:prstGeom>
          <a:solidFill>
            <a:srgbClr val="A100FF"/>
          </a:solidFill>
          <a:ln/>
        </p:spPr>
        <p:txBody>
          <a:bodyPr/>
          <a:lstStyle/>
          <a:p>
            <a:endParaRPr lang="pt-PT"/>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A100FF"/>
          </a:solidFill>
          <a:ln/>
        </p:spPr>
        <p:txBody>
          <a:bodyPr/>
          <a:lstStyle/>
          <a:p>
            <a:endParaRPr lang="pt-PT"/>
          </a:p>
        </p:txBody>
      </p:sp>
      <p:sp>
        <p:nvSpPr>
          <p:cNvPr id="3" name="Shape 1"/>
          <p:cNvSpPr/>
          <p:nvPr/>
        </p:nvSpPr>
        <p:spPr>
          <a:xfrm>
            <a:off x="548640" y="411480"/>
            <a:ext cx="502920" cy="502920"/>
          </a:xfrm>
          <a:prstGeom prst="ellipse">
            <a:avLst/>
          </a:prstGeom>
          <a:solidFill>
            <a:srgbClr val="F0E6FF"/>
          </a:solidFill>
          <a:ln/>
        </p:spPr>
        <p:txBody>
          <a:bodyPr/>
          <a:lstStyle/>
          <a:p>
            <a:endParaRPr lang="pt-PT"/>
          </a:p>
        </p:txBody>
      </p:sp>
      <p:pic>
        <p:nvPicPr>
          <p:cNvPr id="4" name="Image 0" descr="preencoded.png"/>
          <p:cNvPicPr>
            <a:picLocks noChangeAspect="1"/>
          </p:cNvPicPr>
          <p:nvPr/>
        </p:nvPicPr>
        <p:blipFill>
          <a:blip r:embed="rId3"/>
          <a:stretch>
            <a:fillRect/>
          </a:stretch>
        </p:blipFill>
        <p:spPr>
          <a:xfrm>
            <a:off x="658368" y="502920"/>
            <a:ext cx="292608" cy="292608"/>
          </a:xfrm>
          <a:prstGeom prst="rect">
            <a:avLst/>
          </a:prstGeom>
        </p:spPr>
      </p:pic>
      <p:sp>
        <p:nvSpPr>
          <p:cNvPr id="5" name="Text 2"/>
          <p:cNvSpPr/>
          <p:nvPr/>
        </p:nvSpPr>
        <p:spPr>
          <a:xfrm>
            <a:off x="1234440" y="411480"/>
            <a:ext cx="4572000" cy="502920"/>
          </a:xfrm>
          <a:prstGeom prst="rect">
            <a:avLst/>
          </a:prstGeom>
          <a:noFill/>
          <a:ln/>
        </p:spPr>
        <p:txBody>
          <a:bodyPr wrap="square" lIns="0" tIns="0" rIns="0" bIns="0" rtlCol="0" anchor="ctr"/>
          <a:lstStyle/>
          <a:p>
            <a:pPr marL="0" indent="0">
              <a:buNone/>
            </a:pPr>
            <a:r>
              <a:rPr lang="en-US" sz="2800" b="1">
                <a:solidFill>
                  <a:srgbClr val="0B0B1A"/>
                </a:solidFill>
                <a:latin typeface="Trebuchet MS" pitchFamily="34" charset="0"/>
                <a:ea typeface="Trebuchet MS" pitchFamily="34" charset="-122"/>
                <a:cs typeface="Trebuchet MS" pitchFamily="34" charset="-120"/>
              </a:rPr>
              <a:t>Live Demo</a:t>
            </a:r>
            <a:endParaRPr lang="en-US" sz="2800" dirty="0"/>
          </a:p>
        </p:txBody>
      </p:sp>
      <p:sp>
        <p:nvSpPr>
          <p:cNvPr id="6" name="Text 3"/>
          <p:cNvSpPr/>
          <p:nvPr/>
        </p:nvSpPr>
        <p:spPr>
          <a:xfrm>
            <a:off x="548640" y="1097280"/>
            <a:ext cx="7772400" cy="365760"/>
          </a:xfrm>
          <a:prstGeom prst="rect">
            <a:avLst/>
          </a:prstGeom>
          <a:noFill/>
          <a:ln/>
        </p:spPr>
        <p:txBody>
          <a:bodyPr wrap="square" lIns="0" tIns="0" rIns="0" bIns="0" rtlCol="0" anchor="ctr"/>
          <a:lstStyle/>
          <a:p>
            <a:pPr marL="0" indent="0">
              <a:buNone/>
            </a:pPr>
            <a:r>
              <a:rPr lang="en-US" sz="1400">
                <a:solidFill>
                  <a:srgbClr val="64748B"/>
                </a:solidFill>
                <a:latin typeface="Calibri" pitchFamily="34" charset="0"/>
                <a:ea typeface="Calibri" pitchFamily="34" charset="-122"/>
                <a:cs typeface="Calibri" pitchFamily="34" charset="-120"/>
              </a:rPr>
              <a:t>Automated candidate-to-job matching </a:t>
            </a:r>
            <a:r>
              <a:rPr lang="en-US" sz="1400" dirty="0">
                <a:solidFill>
                  <a:srgbClr val="64748B"/>
                </a:solidFill>
                <a:latin typeface="Calibri" pitchFamily="34" charset="0"/>
                <a:ea typeface="Calibri" pitchFamily="34" charset="-122"/>
                <a:cs typeface="Calibri" pitchFamily="34" charset="-120"/>
              </a:rPr>
              <a:t>pipeline </a:t>
            </a:r>
            <a:r>
              <a:rPr lang="en-US" sz="1400">
                <a:solidFill>
                  <a:srgbClr val="64748B"/>
                </a:solidFill>
                <a:latin typeface="Calibri" pitchFamily="34" charset="0"/>
                <a:ea typeface="Calibri" pitchFamily="34" charset="-122"/>
                <a:cs typeface="Calibri" pitchFamily="34" charset="-120"/>
              </a:rPr>
              <a:t>in action</a:t>
            </a:r>
            <a:endParaRPr lang="en-US" sz="1400" dirty="0"/>
          </a:p>
        </p:txBody>
      </p:sp>
      <p:sp>
        <p:nvSpPr>
          <p:cNvPr id="7" name="Shape 4"/>
          <p:cNvSpPr/>
          <p:nvPr/>
        </p:nvSpPr>
        <p:spPr>
          <a:xfrm>
            <a:off x="627362" y="1737360"/>
            <a:ext cx="2468880" cy="2286000"/>
          </a:xfrm>
          <a:prstGeom prst="rect">
            <a:avLst/>
          </a:prstGeom>
          <a:solidFill>
            <a:srgbClr val="F5F0FF"/>
          </a:solidFill>
          <a:ln/>
          <a:effectLst>
            <a:outerShdw blurRad="101600" dist="25400" dir="8100000" algn="bl" rotWithShape="0">
              <a:srgbClr val="000000">
                <a:alpha val="10000"/>
              </a:srgbClr>
            </a:outerShdw>
          </a:effectLst>
        </p:spPr>
        <p:txBody>
          <a:bodyPr/>
          <a:lstStyle/>
          <a:p>
            <a:endParaRPr lang="pt-PT" dirty="0"/>
          </a:p>
        </p:txBody>
      </p:sp>
      <p:sp>
        <p:nvSpPr>
          <p:cNvPr id="8" name="Shape 5"/>
          <p:cNvSpPr/>
          <p:nvPr/>
        </p:nvSpPr>
        <p:spPr>
          <a:xfrm>
            <a:off x="1554480" y="2011680"/>
            <a:ext cx="548640" cy="548640"/>
          </a:xfrm>
          <a:prstGeom prst="ellipse">
            <a:avLst/>
          </a:prstGeom>
          <a:solidFill>
            <a:srgbClr val="A100FF"/>
          </a:solidFill>
          <a:ln/>
        </p:spPr>
        <p:txBody>
          <a:bodyPr/>
          <a:lstStyle/>
          <a:p>
            <a:endParaRPr lang="pt-PT"/>
          </a:p>
        </p:txBody>
      </p:sp>
      <p:pic>
        <p:nvPicPr>
          <p:cNvPr id="9" name="Image 1" descr="preencoded.png"/>
          <p:cNvPicPr>
            <a:picLocks noChangeAspect="1"/>
          </p:cNvPicPr>
          <p:nvPr/>
        </p:nvPicPr>
        <p:blipFill>
          <a:blip r:embed="rId4"/>
          <a:stretch>
            <a:fillRect/>
          </a:stretch>
        </p:blipFill>
        <p:spPr>
          <a:xfrm>
            <a:off x="1664208" y="2121408"/>
            <a:ext cx="329184" cy="329184"/>
          </a:xfrm>
          <a:prstGeom prst="rect">
            <a:avLst/>
          </a:prstGeom>
        </p:spPr>
      </p:pic>
      <p:sp>
        <p:nvSpPr>
          <p:cNvPr id="10" name="Text 6"/>
          <p:cNvSpPr/>
          <p:nvPr/>
        </p:nvSpPr>
        <p:spPr>
          <a:xfrm>
            <a:off x="731520" y="1874520"/>
            <a:ext cx="274320" cy="274320"/>
          </a:xfrm>
          <a:prstGeom prst="rect">
            <a:avLst/>
          </a:prstGeom>
          <a:noFill/>
          <a:ln/>
        </p:spPr>
        <p:txBody>
          <a:bodyPr wrap="square" lIns="0" tIns="0" rIns="0" bIns="0" rtlCol="0" anchor="ctr"/>
          <a:lstStyle/>
          <a:p>
            <a:pPr marL="0" indent="0" algn="ctr">
              <a:buNone/>
            </a:pPr>
            <a:r>
              <a:rPr lang="en-US" sz="1100" b="1">
                <a:solidFill>
                  <a:srgbClr val="A100FF"/>
                </a:solidFill>
                <a:latin typeface="Trebuchet MS" pitchFamily="34" charset="0"/>
                <a:ea typeface="Trebuchet MS" pitchFamily="34" charset="-122"/>
                <a:cs typeface="Trebuchet MS" pitchFamily="34" charset="-120"/>
              </a:rPr>
              <a:t>1</a:t>
            </a:r>
            <a:endParaRPr lang="en-US" sz="1100" dirty="0"/>
          </a:p>
        </p:txBody>
      </p:sp>
      <p:sp>
        <p:nvSpPr>
          <p:cNvPr id="11" name="Text 7"/>
          <p:cNvSpPr/>
          <p:nvPr/>
        </p:nvSpPr>
        <p:spPr>
          <a:xfrm>
            <a:off x="594360" y="2743200"/>
            <a:ext cx="2468880" cy="365760"/>
          </a:xfrm>
          <a:prstGeom prst="rect">
            <a:avLst/>
          </a:prstGeom>
          <a:noFill/>
          <a:ln/>
        </p:spPr>
        <p:txBody>
          <a:bodyPr wrap="square" lIns="0" tIns="0" rIns="0" bIns="0" rtlCol="0" anchor="ctr"/>
          <a:lstStyle/>
          <a:p>
            <a:pPr marL="0" indent="0" algn="ctr">
              <a:buNone/>
            </a:pPr>
            <a:r>
              <a:rPr lang="en-US" sz="1600" b="1">
                <a:solidFill>
                  <a:srgbClr val="0B0B1A"/>
                </a:solidFill>
                <a:latin typeface="Trebuchet MS" pitchFamily="34" charset="0"/>
                <a:ea typeface="Trebuchet MS" pitchFamily="34" charset="-122"/>
                <a:cs typeface="Trebuchet MS" pitchFamily="34" charset="-120"/>
              </a:rPr>
              <a:t>Input</a:t>
            </a:r>
            <a:endParaRPr lang="en-US" sz="1600" dirty="0"/>
          </a:p>
        </p:txBody>
      </p:sp>
      <p:sp>
        <p:nvSpPr>
          <p:cNvPr id="12" name="Text 8"/>
          <p:cNvSpPr/>
          <p:nvPr/>
        </p:nvSpPr>
        <p:spPr>
          <a:xfrm>
            <a:off x="777240" y="3154680"/>
            <a:ext cx="2103120" cy="822960"/>
          </a:xfrm>
          <a:prstGeom prst="rect">
            <a:avLst/>
          </a:prstGeom>
          <a:noFill/>
          <a:ln/>
        </p:spPr>
        <p:txBody>
          <a:bodyPr wrap="square" lIns="0" tIns="0" rIns="0" bIns="0"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Job descriptions with</a:t>
            </a:r>
            <a:endParaRPr lang="en-US" sz="1200" dirty="0"/>
          </a:p>
          <a:p>
            <a:pPr marL="0" indent="0" algn="ctr">
              <a:buNone/>
            </a:pPr>
            <a:r>
              <a:rPr lang="en-US" sz="1200" dirty="0">
                <a:solidFill>
                  <a:srgbClr val="64748B"/>
                </a:solidFill>
                <a:latin typeface="Calibri" pitchFamily="34" charset="0"/>
                <a:ea typeface="Calibri" pitchFamily="34" charset="-122"/>
                <a:cs typeface="Calibri" pitchFamily="34" charset="-120"/>
              </a:rPr>
              <a:t>skills and priorities</a:t>
            </a:r>
            <a:endParaRPr lang="en-US" sz="1200" dirty="0"/>
          </a:p>
        </p:txBody>
      </p:sp>
      <p:sp>
        <p:nvSpPr>
          <p:cNvPr id="13" name="Shape 9"/>
          <p:cNvSpPr/>
          <p:nvPr/>
        </p:nvSpPr>
        <p:spPr>
          <a:xfrm>
            <a:off x="3081528" y="2880360"/>
            <a:ext cx="283464" cy="0"/>
          </a:xfrm>
          <a:prstGeom prst="line">
            <a:avLst/>
          </a:prstGeom>
          <a:noFill/>
          <a:ln w="25400">
            <a:solidFill>
              <a:srgbClr val="A100FF"/>
            </a:solidFill>
            <a:prstDash val="solid"/>
          </a:ln>
        </p:spPr>
        <p:txBody>
          <a:bodyPr/>
          <a:lstStyle/>
          <a:p>
            <a:endParaRPr lang="pt-PT"/>
          </a:p>
        </p:txBody>
      </p:sp>
      <p:sp>
        <p:nvSpPr>
          <p:cNvPr id="14" name="Shape 10"/>
          <p:cNvSpPr/>
          <p:nvPr/>
        </p:nvSpPr>
        <p:spPr>
          <a:xfrm>
            <a:off x="3383280" y="1737360"/>
            <a:ext cx="2468880" cy="2286000"/>
          </a:xfrm>
          <a:prstGeom prst="rect">
            <a:avLst/>
          </a:prstGeom>
          <a:solidFill>
            <a:srgbClr val="F5F0FF"/>
          </a:solidFill>
          <a:ln/>
          <a:effectLst>
            <a:outerShdw blurRad="101600" dist="25400" dir="8100000" algn="bl" rotWithShape="0">
              <a:srgbClr val="000000">
                <a:alpha val="10000"/>
              </a:srgbClr>
            </a:outerShdw>
          </a:effectLst>
        </p:spPr>
        <p:txBody>
          <a:bodyPr/>
          <a:lstStyle/>
          <a:p>
            <a:endParaRPr lang="pt-PT"/>
          </a:p>
        </p:txBody>
      </p:sp>
      <p:sp>
        <p:nvSpPr>
          <p:cNvPr id="15" name="Shape 11"/>
          <p:cNvSpPr/>
          <p:nvPr/>
        </p:nvSpPr>
        <p:spPr>
          <a:xfrm>
            <a:off x="4343400" y="2011680"/>
            <a:ext cx="548640" cy="548640"/>
          </a:xfrm>
          <a:prstGeom prst="ellipse">
            <a:avLst/>
          </a:prstGeom>
          <a:solidFill>
            <a:srgbClr val="A100FF"/>
          </a:solidFill>
          <a:ln/>
        </p:spPr>
        <p:txBody>
          <a:bodyPr/>
          <a:lstStyle/>
          <a:p>
            <a:endParaRPr lang="pt-PT"/>
          </a:p>
        </p:txBody>
      </p:sp>
      <p:pic>
        <p:nvPicPr>
          <p:cNvPr id="16" name="Image 2" descr="preencoded.png"/>
          <p:cNvPicPr>
            <a:picLocks noChangeAspect="1"/>
          </p:cNvPicPr>
          <p:nvPr/>
        </p:nvPicPr>
        <p:blipFill>
          <a:blip r:embed="rId5"/>
          <a:stretch>
            <a:fillRect/>
          </a:stretch>
        </p:blipFill>
        <p:spPr>
          <a:xfrm>
            <a:off x="4453128" y="2121408"/>
            <a:ext cx="329184" cy="329184"/>
          </a:xfrm>
          <a:prstGeom prst="rect">
            <a:avLst/>
          </a:prstGeom>
        </p:spPr>
      </p:pic>
      <p:sp>
        <p:nvSpPr>
          <p:cNvPr id="17" name="Text 12"/>
          <p:cNvSpPr/>
          <p:nvPr/>
        </p:nvSpPr>
        <p:spPr>
          <a:xfrm>
            <a:off x="3520440" y="1874520"/>
            <a:ext cx="274320" cy="274320"/>
          </a:xfrm>
          <a:prstGeom prst="rect">
            <a:avLst/>
          </a:prstGeom>
          <a:noFill/>
          <a:ln/>
        </p:spPr>
        <p:txBody>
          <a:bodyPr wrap="square" lIns="0" tIns="0" rIns="0" bIns="0" rtlCol="0" anchor="ctr"/>
          <a:lstStyle/>
          <a:p>
            <a:pPr marL="0" indent="0" algn="ctr">
              <a:buNone/>
            </a:pPr>
            <a:r>
              <a:rPr lang="en-US" sz="1100" b="1">
                <a:solidFill>
                  <a:srgbClr val="A100FF"/>
                </a:solidFill>
                <a:latin typeface="Trebuchet MS" pitchFamily="34" charset="0"/>
                <a:ea typeface="Trebuchet MS" pitchFamily="34" charset="-122"/>
                <a:cs typeface="Trebuchet MS" pitchFamily="34" charset="-120"/>
              </a:rPr>
              <a:t>2</a:t>
            </a:r>
            <a:endParaRPr lang="en-US" sz="1100" dirty="0"/>
          </a:p>
        </p:txBody>
      </p:sp>
      <p:sp>
        <p:nvSpPr>
          <p:cNvPr id="18" name="Text 13"/>
          <p:cNvSpPr/>
          <p:nvPr/>
        </p:nvSpPr>
        <p:spPr>
          <a:xfrm>
            <a:off x="3383280" y="2743200"/>
            <a:ext cx="2468880" cy="365760"/>
          </a:xfrm>
          <a:prstGeom prst="rect">
            <a:avLst/>
          </a:prstGeom>
          <a:noFill/>
          <a:ln/>
        </p:spPr>
        <p:txBody>
          <a:bodyPr wrap="square" lIns="0" tIns="0" rIns="0" bIns="0" rtlCol="0" anchor="ctr"/>
          <a:lstStyle/>
          <a:p>
            <a:pPr marL="0" indent="0" algn="ctr">
              <a:buNone/>
            </a:pPr>
            <a:r>
              <a:rPr lang="en-US" sz="1600" b="1">
                <a:solidFill>
                  <a:srgbClr val="0B0B1A"/>
                </a:solidFill>
                <a:latin typeface="Trebuchet MS" pitchFamily="34" charset="0"/>
                <a:ea typeface="Trebuchet MS" pitchFamily="34" charset="-122"/>
                <a:cs typeface="Trebuchet MS" pitchFamily="34" charset="-120"/>
              </a:rPr>
              <a:t>Processing</a:t>
            </a:r>
            <a:endParaRPr lang="en-US" sz="1600" dirty="0"/>
          </a:p>
        </p:txBody>
      </p:sp>
      <p:sp>
        <p:nvSpPr>
          <p:cNvPr id="19" name="Text 14"/>
          <p:cNvSpPr/>
          <p:nvPr/>
        </p:nvSpPr>
        <p:spPr>
          <a:xfrm>
            <a:off x="3566160" y="3154680"/>
            <a:ext cx="2103120" cy="822960"/>
          </a:xfrm>
          <a:prstGeom prst="rect">
            <a:avLst/>
          </a:prstGeom>
          <a:noFill/>
          <a:ln/>
        </p:spPr>
        <p:txBody>
          <a:bodyPr wrap="square" lIns="0" tIns="0" rIns="0" bIns="0"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Agents parse data,</a:t>
            </a:r>
            <a:endParaRPr lang="en-US" sz="1200" dirty="0"/>
          </a:p>
          <a:p>
            <a:pPr marL="0" indent="0" algn="ctr">
              <a:buNone/>
            </a:pPr>
            <a:r>
              <a:rPr lang="en-US" sz="1200" dirty="0">
                <a:solidFill>
                  <a:srgbClr val="64748B"/>
                </a:solidFill>
                <a:latin typeface="Calibri" pitchFamily="34" charset="0"/>
                <a:ea typeface="Calibri" pitchFamily="34" charset="-122"/>
                <a:cs typeface="Calibri" pitchFamily="34" charset="-120"/>
              </a:rPr>
              <a:t>match and score</a:t>
            </a:r>
            <a:endParaRPr lang="en-US" sz="1200" dirty="0"/>
          </a:p>
        </p:txBody>
      </p:sp>
      <p:sp>
        <p:nvSpPr>
          <p:cNvPr id="20" name="Shape 15"/>
          <p:cNvSpPr/>
          <p:nvPr/>
        </p:nvSpPr>
        <p:spPr>
          <a:xfrm>
            <a:off x="5870448" y="2880360"/>
            <a:ext cx="283464" cy="0"/>
          </a:xfrm>
          <a:prstGeom prst="line">
            <a:avLst/>
          </a:prstGeom>
          <a:noFill/>
          <a:ln w="25400">
            <a:solidFill>
              <a:srgbClr val="A100FF"/>
            </a:solidFill>
            <a:prstDash val="solid"/>
          </a:ln>
        </p:spPr>
        <p:txBody>
          <a:bodyPr/>
          <a:lstStyle/>
          <a:p>
            <a:endParaRPr lang="pt-PT"/>
          </a:p>
        </p:txBody>
      </p:sp>
      <p:sp>
        <p:nvSpPr>
          <p:cNvPr id="21" name="Shape 16"/>
          <p:cNvSpPr/>
          <p:nvPr/>
        </p:nvSpPr>
        <p:spPr>
          <a:xfrm>
            <a:off x="6172200" y="1737360"/>
            <a:ext cx="2468880" cy="2286000"/>
          </a:xfrm>
          <a:prstGeom prst="rect">
            <a:avLst/>
          </a:prstGeom>
          <a:solidFill>
            <a:srgbClr val="F5F0FF"/>
          </a:solidFill>
          <a:ln/>
          <a:effectLst>
            <a:outerShdw blurRad="101600" dist="25400" dir="8100000" algn="bl" rotWithShape="0">
              <a:srgbClr val="000000">
                <a:alpha val="10000"/>
              </a:srgbClr>
            </a:outerShdw>
          </a:effectLst>
        </p:spPr>
        <p:txBody>
          <a:bodyPr/>
          <a:lstStyle/>
          <a:p>
            <a:endParaRPr lang="pt-PT"/>
          </a:p>
        </p:txBody>
      </p:sp>
      <p:sp>
        <p:nvSpPr>
          <p:cNvPr id="22" name="Shape 17"/>
          <p:cNvSpPr/>
          <p:nvPr/>
        </p:nvSpPr>
        <p:spPr>
          <a:xfrm>
            <a:off x="7132320" y="2011680"/>
            <a:ext cx="548640" cy="548640"/>
          </a:xfrm>
          <a:prstGeom prst="ellipse">
            <a:avLst/>
          </a:prstGeom>
          <a:solidFill>
            <a:srgbClr val="F0E6FF"/>
          </a:solidFill>
          <a:ln/>
        </p:spPr>
        <p:txBody>
          <a:bodyPr/>
          <a:lstStyle/>
          <a:p>
            <a:endParaRPr lang="pt-PT"/>
          </a:p>
        </p:txBody>
      </p:sp>
      <p:pic>
        <p:nvPicPr>
          <p:cNvPr id="23" name="Image 3" descr="preencoded.png"/>
          <p:cNvPicPr>
            <a:picLocks noChangeAspect="1"/>
          </p:cNvPicPr>
          <p:nvPr/>
        </p:nvPicPr>
        <p:blipFill>
          <a:blip r:embed="rId6"/>
          <a:stretch>
            <a:fillRect/>
          </a:stretch>
        </p:blipFill>
        <p:spPr>
          <a:xfrm>
            <a:off x="7242048" y="2121408"/>
            <a:ext cx="329184" cy="329184"/>
          </a:xfrm>
          <a:prstGeom prst="rect">
            <a:avLst/>
          </a:prstGeom>
        </p:spPr>
      </p:pic>
      <p:sp>
        <p:nvSpPr>
          <p:cNvPr id="24" name="Text 18"/>
          <p:cNvSpPr/>
          <p:nvPr/>
        </p:nvSpPr>
        <p:spPr>
          <a:xfrm>
            <a:off x="6309360" y="1874520"/>
            <a:ext cx="274320" cy="274320"/>
          </a:xfrm>
          <a:prstGeom prst="rect">
            <a:avLst/>
          </a:prstGeom>
          <a:noFill/>
          <a:ln/>
        </p:spPr>
        <p:txBody>
          <a:bodyPr wrap="square" lIns="0" tIns="0" rIns="0" bIns="0" rtlCol="0" anchor="ctr"/>
          <a:lstStyle/>
          <a:p>
            <a:pPr marL="0" indent="0" algn="ctr">
              <a:buNone/>
            </a:pPr>
            <a:r>
              <a:rPr lang="en-US" sz="1100" b="1">
                <a:solidFill>
                  <a:srgbClr val="A100FF"/>
                </a:solidFill>
                <a:latin typeface="Trebuchet MS" pitchFamily="34" charset="0"/>
                <a:ea typeface="Trebuchet MS" pitchFamily="34" charset="-122"/>
                <a:cs typeface="Trebuchet MS" pitchFamily="34" charset="-120"/>
              </a:rPr>
              <a:t>3</a:t>
            </a:r>
            <a:endParaRPr lang="en-US" sz="1100" dirty="0"/>
          </a:p>
        </p:txBody>
      </p:sp>
      <p:sp>
        <p:nvSpPr>
          <p:cNvPr id="25" name="Text 19"/>
          <p:cNvSpPr/>
          <p:nvPr/>
        </p:nvSpPr>
        <p:spPr>
          <a:xfrm>
            <a:off x="6172200" y="2743200"/>
            <a:ext cx="2468880" cy="365760"/>
          </a:xfrm>
          <a:prstGeom prst="rect">
            <a:avLst/>
          </a:prstGeom>
          <a:noFill/>
          <a:ln/>
        </p:spPr>
        <p:txBody>
          <a:bodyPr wrap="square" lIns="0" tIns="0" rIns="0" bIns="0" rtlCol="0" anchor="ctr"/>
          <a:lstStyle/>
          <a:p>
            <a:pPr marL="0" indent="0" algn="ctr">
              <a:buNone/>
            </a:pPr>
            <a:r>
              <a:rPr lang="en-US" sz="1600" b="1">
                <a:solidFill>
                  <a:srgbClr val="0B0B1A"/>
                </a:solidFill>
                <a:latin typeface="Trebuchet MS" pitchFamily="34" charset="0"/>
                <a:ea typeface="Trebuchet MS" pitchFamily="34" charset="-122"/>
                <a:cs typeface="Trebuchet MS" pitchFamily="34" charset="-120"/>
              </a:rPr>
              <a:t>Output</a:t>
            </a:r>
            <a:endParaRPr lang="en-US" sz="1600" dirty="0"/>
          </a:p>
        </p:txBody>
      </p:sp>
      <p:sp>
        <p:nvSpPr>
          <p:cNvPr id="26" name="Text 20"/>
          <p:cNvSpPr/>
          <p:nvPr/>
        </p:nvSpPr>
        <p:spPr>
          <a:xfrm>
            <a:off x="6355080" y="3154680"/>
            <a:ext cx="2103120" cy="822960"/>
          </a:xfrm>
          <a:prstGeom prst="rect">
            <a:avLst/>
          </a:prstGeom>
          <a:noFill/>
          <a:ln/>
        </p:spPr>
        <p:txBody>
          <a:bodyPr wrap="square" lIns="0" tIns="0" rIns="0" bIns="0"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Ranked candidates</a:t>
            </a:r>
            <a:endParaRPr lang="en-US" sz="1200" dirty="0"/>
          </a:p>
          <a:p>
            <a:pPr marL="0" indent="0" algn="ctr">
              <a:buNone/>
            </a:pPr>
            <a:r>
              <a:rPr lang="en-US" sz="1200" dirty="0">
                <a:solidFill>
                  <a:srgbClr val="64748B"/>
                </a:solidFill>
                <a:latin typeface="Calibri" pitchFamily="34" charset="0"/>
                <a:ea typeface="Calibri" pitchFamily="34" charset="-122"/>
                <a:cs typeface="Calibri" pitchFamily="34" charset="-120"/>
              </a:rPr>
              <a:t>with match scores</a:t>
            </a:r>
            <a:endParaRPr lang="en-US" sz="1200" dirty="0"/>
          </a:p>
        </p:txBody>
      </p:sp>
      <p:sp>
        <p:nvSpPr>
          <p:cNvPr id="28" name="Shape 22"/>
          <p:cNvSpPr/>
          <p:nvPr/>
        </p:nvSpPr>
        <p:spPr>
          <a:xfrm>
            <a:off x="0" y="4892040"/>
            <a:ext cx="9144000" cy="251460"/>
          </a:xfrm>
          <a:prstGeom prst="rect">
            <a:avLst/>
          </a:prstGeom>
          <a:solidFill>
            <a:srgbClr val="A100FF"/>
          </a:solidFill>
          <a:ln/>
        </p:spPr>
        <p:txBody>
          <a:bodyPr/>
          <a:lstStyle/>
          <a:p>
            <a:endParaRPr lang="pt-PT"/>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A100FF"/>
          </a:solidFill>
          <a:ln/>
        </p:spPr>
        <p:txBody>
          <a:bodyPr/>
          <a:lstStyle/>
          <a:p>
            <a:endParaRPr lang="pt-PT"/>
          </a:p>
        </p:txBody>
      </p:sp>
      <p:sp>
        <p:nvSpPr>
          <p:cNvPr id="3" name="Shape 1"/>
          <p:cNvSpPr/>
          <p:nvPr/>
        </p:nvSpPr>
        <p:spPr>
          <a:xfrm>
            <a:off x="548640" y="411480"/>
            <a:ext cx="502920" cy="502920"/>
          </a:xfrm>
          <a:prstGeom prst="ellipse">
            <a:avLst/>
          </a:prstGeom>
          <a:solidFill>
            <a:srgbClr val="F0E6FF"/>
          </a:solidFill>
          <a:ln/>
        </p:spPr>
        <p:txBody>
          <a:bodyPr/>
          <a:lstStyle/>
          <a:p>
            <a:endParaRPr lang="pt-PT"/>
          </a:p>
        </p:txBody>
      </p:sp>
      <p:pic>
        <p:nvPicPr>
          <p:cNvPr id="4" name="Image 0" descr="preencoded.png"/>
          <p:cNvPicPr>
            <a:picLocks noChangeAspect="1"/>
          </p:cNvPicPr>
          <p:nvPr/>
        </p:nvPicPr>
        <p:blipFill>
          <a:blip r:embed="rId3"/>
          <a:stretch>
            <a:fillRect/>
          </a:stretch>
        </p:blipFill>
        <p:spPr>
          <a:xfrm>
            <a:off x="658368" y="502920"/>
            <a:ext cx="292608" cy="292608"/>
          </a:xfrm>
          <a:prstGeom prst="rect">
            <a:avLst/>
          </a:prstGeom>
        </p:spPr>
      </p:pic>
      <p:sp>
        <p:nvSpPr>
          <p:cNvPr id="5" name="Text 2"/>
          <p:cNvSpPr/>
          <p:nvPr/>
        </p:nvSpPr>
        <p:spPr>
          <a:xfrm>
            <a:off x="1234440" y="411480"/>
            <a:ext cx="5486400" cy="502920"/>
          </a:xfrm>
          <a:prstGeom prst="rect">
            <a:avLst/>
          </a:prstGeom>
          <a:noFill/>
          <a:ln/>
        </p:spPr>
        <p:txBody>
          <a:bodyPr wrap="square" lIns="0" tIns="0" rIns="0" bIns="0" rtlCol="0" anchor="ctr"/>
          <a:lstStyle/>
          <a:p>
            <a:pPr marL="0" indent="0">
              <a:buNone/>
            </a:pPr>
            <a:r>
              <a:rPr lang="en-US" sz="2800" b="1">
                <a:solidFill>
                  <a:srgbClr val="0B0B1A"/>
                </a:solidFill>
                <a:latin typeface="Trebuchet MS" pitchFamily="34" charset="0"/>
                <a:ea typeface="Trebuchet MS" pitchFamily="34" charset="-122"/>
                <a:cs typeface="Trebuchet MS" pitchFamily="34" charset="-120"/>
              </a:rPr>
              <a:t>Agent Architecture</a:t>
            </a:r>
            <a:endParaRPr lang="en-US" sz="2800" dirty="0"/>
          </a:p>
        </p:txBody>
      </p:sp>
      <p:sp>
        <p:nvSpPr>
          <p:cNvPr id="6" name="Text 3"/>
          <p:cNvSpPr/>
          <p:nvPr/>
        </p:nvSpPr>
        <p:spPr>
          <a:xfrm>
            <a:off x="548640" y="1097280"/>
            <a:ext cx="7772400" cy="36576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How </a:t>
            </a:r>
            <a:r>
              <a:rPr lang="en-US" sz="1400">
                <a:solidFill>
                  <a:srgbClr val="64748B"/>
                </a:solidFill>
                <a:latin typeface="Calibri" pitchFamily="34" charset="0"/>
                <a:ea typeface="Calibri" pitchFamily="34" charset="-122"/>
                <a:cs typeface="Calibri" pitchFamily="34" charset="-120"/>
              </a:rPr>
              <a:t>TalentMatch AI </a:t>
            </a:r>
            <a:r>
              <a:rPr lang="en-US" sz="1400" dirty="0">
                <a:solidFill>
                  <a:srgbClr val="64748B"/>
                </a:solidFill>
                <a:latin typeface="Calibri" pitchFamily="34" charset="0"/>
                <a:ea typeface="Calibri" pitchFamily="34" charset="-122"/>
                <a:cs typeface="Calibri" pitchFamily="34" charset="-120"/>
              </a:rPr>
              <a:t>agents </a:t>
            </a:r>
            <a:r>
              <a:rPr lang="en-US" sz="1400">
                <a:solidFill>
                  <a:srgbClr val="64748B"/>
                </a:solidFill>
                <a:latin typeface="Calibri" pitchFamily="34" charset="0"/>
                <a:ea typeface="Calibri" pitchFamily="34" charset="-122"/>
                <a:cs typeface="Calibri" pitchFamily="34" charset="-120"/>
              </a:rPr>
              <a:t>collaborate to rank candidates</a:t>
            </a:r>
            <a:endParaRPr lang="en-US" sz="1400" dirty="0"/>
          </a:p>
        </p:txBody>
      </p:sp>
      <p:sp>
        <p:nvSpPr>
          <p:cNvPr id="7" name="Shape 4"/>
          <p:cNvSpPr/>
          <p:nvPr/>
        </p:nvSpPr>
        <p:spPr>
          <a:xfrm>
            <a:off x="950976" y="1691640"/>
            <a:ext cx="7370064" cy="685800"/>
          </a:xfrm>
          <a:prstGeom prst="rect">
            <a:avLst/>
          </a:prstGeom>
          <a:solidFill>
            <a:srgbClr val="0B0B1A"/>
          </a:solidFill>
          <a:ln/>
          <a:effectLst>
            <a:outerShdw blurRad="101600" dist="25400" dir="8100000" algn="bl" rotWithShape="0">
              <a:srgbClr val="000000">
                <a:alpha val="10000"/>
              </a:srgbClr>
            </a:outerShdw>
          </a:effectLst>
        </p:spPr>
        <p:txBody>
          <a:bodyPr/>
          <a:lstStyle/>
          <a:p>
            <a:endParaRPr lang="pt-PT"/>
          </a:p>
        </p:txBody>
      </p:sp>
      <p:pic>
        <p:nvPicPr>
          <p:cNvPr id="8" name="Image 1" descr="preencoded.png"/>
          <p:cNvPicPr>
            <a:picLocks noChangeAspect="1"/>
          </p:cNvPicPr>
          <p:nvPr/>
        </p:nvPicPr>
        <p:blipFill>
          <a:blip r:embed="rId4"/>
          <a:stretch>
            <a:fillRect/>
          </a:stretch>
        </p:blipFill>
        <p:spPr>
          <a:xfrm>
            <a:off x="3566160" y="1801368"/>
            <a:ext cx="365760" cy="365760"/>
          </a:xfrm>
          <a:prstGeom prst="rect">
            <a:avLst/>
          </a:prstGeom>
        </p:spPr>
      </p:pic>
      <p:sp>
        <p:nvSpPr>
          <p:cNvPr id="9" name="Text 5"/>
          <p:cNvSpPr/>
          <p:nvPr/>
        </p:nvSpPr>
        <p:spPr>
          <a:xfrm>
            <a:off x="3977640" y="1691640"/>
            <a:ext cx="2560320" cy="685800"/>
          </a:xfrm>
          <a:prstGeom prst="rect">
            <a:avLst/>
          </a:prstGeom>
          <a:noFill/>
          <a:ln/>
        </p:spPr>
        <p:txBody>
          <a:bodyPr wrap="square" lIns="0" tIns="0" rIns="0" bIns="0" rtlCol="0" anchor="ctr"/>
          <a:lstStyle/>
          <a:p>
            <a:pPr marL="0" indent="0">
              <a:buNone/>
            </a:pPr>
            <a:r>
              <a:rPr lang="en-US" sz="1500" b="1" dirty="0">
                <a:solidFill>
                  <a:srgbClr val="FFFFFF"/>
                </a:solidFill>
                <a:latin typeface="Trebuchet MS" pitchFamily="34" charset="0"/>
                <a:ea typeface="Trebuchet MS" pitchFamily="34" charset="-122"/>
                <a:cs typeface="Trebuchet MS" pitchFamily="34" charset="-120"/>
              </a:rPr>
              <a:t>Orchestrator Agent</a:t>
            </a:r>
            <a:endParaRPr lang="en-US" sz="1500" dirty="0"/>
          </a:p>
        </p:txBody>
      </p:sp>
      <p:sp>
        <p:nvSpPr>
          <p:cNvPr id="10" name="Shape 6"/>
          <p:cNvSpPr/>
          <p:nvPr/>
        </p:nvSpPr>
        <p:spPr>
          <a:xfrm>
            <a:off x="1485900" y="2377440"/>
            <a:ext cx="0" cy="411480"/>
          </a:xfrm>
          <a:prstGeom prst="line">
            <a:avLst/>
          </a:prstGeom>
          <a:noFill/>
          <a:ln w="19050">
            <a:solidFill>
              <a:srgbClr val="E0D4F0"/>
            </a:solidFill>
            <a:prstDash val="solid"/>
          </a:ln>
        </p:spPr>
        <p:txBody>
          <a:bodyPr/>
          <a:lstStyle/>
          <a:p>
            <a:endParaRPr lang="pt-PT"/>
          </a:p>
        </p:txBody>
      </p:sp>
      <p:sp>
        <p:nvSpPr>
          <p:cNvPr id="11" name="Shape 7"/>
          <p:cNvSpPr/>
          <p:nvPr/>
        </p:nvSpPr>
        <p:spPr>
          <a:xfrm>
            <a:off x="594360" y="2788920"/>
            <a:ext cx="1783080" cy="1691640"/>
          </a:xfrm>
          <a:prstGeom prst="rect">
            <a:avLst/>
          </a:prstGeom>
          <a:solidFill>
            <a:srgbClr val="F5F0FF"/>
          </a:solidFill>
          <a:ln/>
          <a:effectLst>
            <a:outerShdw blurRad="101600" dist="25400" dir="8100000" algn="bl" rotWithShape="0">
              <a:srgbClr val="000000">
                <a:alpha val="10000"/>
              </a:srgbClr>
            </a:outerShdw>
          </a:effectLst>
        </p:spPr>
        <p:txBody>
          <a:bodyPr/>
          <a:lstStyle/>
          <a:p>
            <a:endParaRPr lang="pt-PT"/>
          </a:p>
        </p:txBody>
      </p:sp>
      <p:sp>
        <p:nvSpPr>
          <p:cNvPr id="12" name="Shape 8"/>
          <p:cNvSpPr/>
          <p:nvPr/>
        </p:nvSpPr>
        <p:spPr>
          <a:xfrm>
            <a:off x="1257300" y="2971800"/>
            <a:ext cx="457200" cy="457200"/>
          </a:xfrm>
          <a:prstGeom prst="ellipse">
            <a:avLst/>
          </a:prstGeom>
          <a:solidFill>
            <a:srgbClr val="A100FF"/>
          </a:solidFill>
          <a:ln/>
        </p:spPr>
        <p:txBody>
          <a:bodyPr/>
          <a:lstStyle/>
          <a:p>
            <a:endParaRPr lang="pt-PT"/>
          </a:p>
        </p:txBody>
      </p:sp>
      <p:pic>
        <p:nvPicPr>
          <p:cNvPr id="13" name="Image 2" descr="preencoded.png"/>
          <p:cNvPicPr>
            <a:picLocks noChangeAspect="1"/>
          </p:cNvPicPr>
          <p:nvPr/>
        </p:nvPicPr>
        <p:blipFill>
          <a:blip r:embed="rId5"/>
          <a:stretch>
            <a:fillRect/>
          </a:stretch>
        </p:blipFill>
        <p:spPr>
          <a:xfrm>
            <a:off x="1339596" y="3054096"/>
            <a:ext cx="292608" cy="292608"/>
          </a:xfrm>
          <a:prstGeom prst="rect">
            <a:avLst/>
          </a:prstGeom>
        </p:spPr>
      </p:pic>
      <p:sp>
        <p:nvSpPr>
          <p:cNvPr id="14" name="Text 9"/>
          <p:cNvSpPr/>
          <p:nvPr/>
        </p:nvSpPr>
        <p:spPr>
          <a:xfrm>
            <a:off x="594360" y="3520440"/>
            <a:ext cx="1783080" cy="457200"/>
          </a:xfrm>
          <a:prstGeom prst="rect">
            <a:avLst/>
          </a:prstGeom>
          <a:noFill/>
          <a:ln/>
        </p:spPr>
        <p:txBody>
          <a:bodyPr wrap="square" lIns="0" tIns="0" rIns="0" bIns="0" rtlCol="0" anchor="ctr"/>
          <a:lstStyle/>
          <a:p>
            <a:pPr marL="0" indent="0" algn="ctr">
              <a:buNone/>
            </a:pPr>
            <a:r>
              <a:rPr lang="en-US" sz="1300" b="1" dirty="0">
                <a:solidFill>
                  <a:srgbClr val="0B0B1A"/>
                </a:solidFill>
                <a:latin typeface="Trebuchet MS" pitchFamily="34" charset="0"/>
                <a:ea typeface="Trebuchet MS" pitchFamily="34" charset="-122"/>
                <a:cs typeface="Trebuchet MS" pitchFamily="34" charset="-120"/>
              </a:rPr>
              <a:t>Job Analyzer</a:t>
            </a:r>
            <a:endParaRPr lang="en-US" sz="1300" dirty="0"/>
          </a:p>
          <a:p>
            <a:pPr marL="0" indent="0" algn="ctr">
              <a:buNone/>
            </a:pPr>
            <a:r>
              <a:rPr lang="en-US" sz="1300" b="1" dirty="0">
                <a:solidFill>
                  <a:srgbClr val="0B0B1A"/>
                </a:solidFill>
                <a:latin typeface="Trebuchet MS" pitchFamily="34" charset="0"/>
                <a:ea typeface="Trebuchet MS" pitchFamily="34" charset="-122"/>
                <a:cs typeface="Trebuchet MS" pitchFamily="34" charset="-120"/>
              </a:rPr>
              <a:t>Agent</a:t>
            </a:r>
            <a:endParaRPr lang="en-US" sz="1300" dirty="0"/>
          </a:p>
        </p:txBody>
      </p:sp>
      <p:sp>
        <p:nvSpPr>
          <p:cNvPr id="15" name="Text 10"/>
          <p:cNvSpPr/>
          <p:nvPr/>
        </p:nvSpPr>
        <p:spPr>
          <a:xfrm>
            <a:off x="731520" y="3977640"/>
            <a:ext cx="1508760" cy="41148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Reads jobs descriptions and extracts keywords</a:t>
            </a:r>
            <a:endParaRPr lang="en-US" sz="1000" dirty="0"/>
          </a:p>
        </p:txBody>
      </p:sp>
      <p:sp>
        <p:nvSpPr>
          <p:cNvPr id="16" name="Shape 11"/>
          <p:cNvSpPr/>
          <p:nvPr/>
        </p:nvSpPr>
        <p:spPr>
          <a:xfrm>
            <a:off x="3589020" y="2377440"/>
            <a:ext cx="0" cy="411480"/>
          </a:xfrm>
          <a:prstGeom prst="line">
            <a:avLst/>
          </a:prstGeom>
          <a:noFill/>
          <a:ln w="19050">
            <a:solidFill>
              <a:srgbClr val="E0D4F0"/>
            </a:solidFill>
            <a:prstDash val="solid"/>
          </a:ln>
        </p:spPr>
        <p:txBody>
          <a:bodyPr/>
          <a:lstStyle/>
          <a:p>
            <a:endParaRPr lang="pt-PT"/>
          </a:p>
        </p:txBody>
      </p:sp>
      <p:sp>
        <p:nvSpPr>
          <p:cNvPr id="17" name="Shape 12"/>
          <p:cNvSpPr/>
          <p:nvPr/>
        </p:nvSpPr>
        <p:spPr>
          <a:xfrm>
            <a:off x="2697480" y="2788920"/>
            <a:ext cx="1783080" cy="1691640"/>
          </a:xfrm>
          <a:prstGeom prst="rect">
            <a:avLst/>
          </a:prstGeom>
          <a:solidFill>
            <a:srgbClr val="F5F0FF"/>
          </a:solidFill>
          <a:ln/>
          <a:effectLst>
            <a:outerShdw blurRad="101600" dist="25400" dir="8100000" algn="bl" rotWithShape="0">
              <a:srgbClr val="000000">
                <a:alpha val="10000"/>
              </a:srgbClr>
            </a:outerShdw>
          </a:effectLst>
        </p:spPr>
        <p:txBody>
          <a:bodyPr/>
          <a:lstStyle/>
          <a:p>
            <a:endParaRPr lang="pt-PT"/>
          </a:p>
        </p:txBody>
      </p:sp>
      <p:sp>
        <p:nvSpPr>
          <p:cNvPr id="18" name="Shape 13"/>
          <p:cNvSpPr/>
          <p:nvPr/>
        </p:nvSpPr>
        <p:spPr>
          <a:xfrm>
            <a:off x="3360420" y="2971800"/>
            <a:ext cx="457200" cy="457200"/>
          </a:xfrm>
          <a:prstGeom prst="ellipse">
            <a:avLst/>
          </a:prstGeom>
          <a:solidFill>
            <a:srgbClr val="A100FF"/>
          </a:solidFill>
          <a:ln/>
        </p:spPr>
        <p:txBody>
          <a:bodyPr/>
          <a:lstStyle/>
          <a:p>
            <a:endParaRPr lang="pt-PT"/>
          </a:p>
        </p:txBody>
      </p:sp>
      <p:pic>
        <p:nvPicPr>
          <p:cNvPr id="19" name="Image 3" descr="preencoded.png"/>
          <p:cNvPicPr>
            <a:picLocks noChangeAspect="1"/>
          </p:cNvPicPr>
          <p:nvPr/>
        </p:nvPicPr>
        <p:blipFill>
          <a:blip r:embed="rId4"/>
          <a:stretch>
            <a:fillRect/>
          </a:stretch>
        </p:blipFill>
        <p:spPr>
          <a:xfrm>
            <a:off x="3442716" y="3054096"/>
            <a:ext cx="292608" cy="292608"/>
          </a:xfrm>
          <a:prstGeom prst="rect">
            <a:avLst/>
          </a:prstGeom>
        </p:spPr>
      </p:pic>
      <p:sp>
        <p:nvSpPr>
          <p:cNvPr id="20" name="Text 14"/>
          <p:cNvSpPr/>
          <p:nvPr/>
        </p:nvSpPr>
        <p:spPr>
          <a:xfrm>
            <a:off x="2651760" y="3510770"/>
            <a:ext cx="1783080" cy="457200"/>
          </a:xfrm>
          <a:prstGeom prst="rect">
            <a:avLst/>
          </a:prstGeom>
          <a:noFill/>
          <a:ln/>
        </p:spPr>
        <p:txBody>
          <a:bodyPr wrap="square" lIns="0" tIns="0" rIns="0" bIns="0" rtlCol="0" anchor="ctr"/>
          <a:lstStyle/>
          <a:p>
            <a:pPr marL="0" indent="0" algn="ctr">
              <a:buNone/>
            </a:pPr>
            <a:r>
              <a:rPr lang="en-US" sz="1300" b="1" dirty="0">
                <a:solidFill>
                  <a:srgbClr val="0B0B1A"/>
                </a:solidFill>
                <a:latin typeface="Trebuchet MS" pitchFamily="34" charset="0"/>
                <a:ea typeface="Trebuchet MS" pitchFamily="34" charset="-122"/>
                <a:cs typeface="Trebuchet MS" pitchFamily="34" charset="-120"/>
              </a:rPr>
              <a:t>CV Parser</a:t>
            </a:r>
            <a:endParaRPr lang="en-US" sz="1300" dirty="0"/>
          </a:p>
          <a:p>
            <a:pPr marL="0" indent="0" algn="ctr">
              <a:buNone/>
            </a:pPr>
            <a:r>
              <a:rPr lang="en-US" sz="1300" b="1" dirty="0">
                <a:solidFill>
                  <a:srgbClr val="0B0B1A"/>
                </a:solidFill>
                <a:latin typeface="Trebuchet MS" pitchFamily="34" charset="0"/>
                <a:ea typeface="Trebuchet MS" pitchFamily="34" charset="-122"/>
                <a:cs typeface="Trebuchet MS" pitchFamily="34" charset="-120"/>
              </a:rPr>
              <a:t>Agent</a:t>
            </a:r>
            <a:endParaRPr lang="en-US" sz="1300" dirty="0"/>
          </a:p>
        </p:txBody>
      </p:sp>
      <p:sp>
        <p:nvSpPr>
          <p:cNvPr id="21" name="Text 15"/>
          <p:cNvSpPr/>
          <p:nvPr/>
        </p:nvSpPr>
        <p:spPr>
          <a:xfrm>
            <a:off x="2834640" y="3977640"/>
            <a:ext cx="1508760" cy="41148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Peer each candidate exports relevant data</a:t>
            </a:r>
            <a:endParaRPr lang="en-US" sz="1000" dirty="0"/>
          </a:p>
        </p:txBody>
      </p:sp>
      <p:sp>
        <p:nvSpPr>
          <p:cNvPr id="22" name="Shape 16"/>
          <p:cNvSpPr/>
          <p:nvPr/>
        </p:nvSpPr>
        <p:spPr>
          <a:xfrm>
            <a:off x="5692140" y="2377440"/>
            <a:ext cx="0" cy="411480"/>
          </a:xfrm>
          <a:prstGeom prst="line">
            <a:avLst/>
          </a:prstGeom>
          <a:noFill/>
          <a:ln w="19050">
            <a:solidFill>
              <a:srgbClr val="E0D4F0"/>
            </a:solidFill>
            <a:prstDash val="solid"/>
          </a:ln>
        </p:spPr>
        <p:txBody>
          <a:bodyPr/>
          <a:lstStyle/>
          <a:p>
            <a:endParaRPr lang="pt-PT"/>
          </a:p>
        </p:txBody>
      </p:sp>
      <p:sp>
        <p:nvSpPr>
          <p:cNvPr id="23" name="Shape 17"/>
          <p:cNvSpPr/>
          <p:nvPr/>
        </p:nvSpPr>
        <p:spPr>
          <a:xfrm>
            <a:off x="4800600" y="2788920"/>
            <a:ext cx="1783080" cy="1691640"/>
          </a:xfrm>
          <a:prstGeom prst="rect">
            <a:avLst/>
          </a:prstGeom>
          <a:solidFill>
            <a:srgbClr val="F5F0FF"/>
          </a:solidFill>
          <a:ln/>
          <a:effectLst>
            <a:outerShdw blurRad="101600" dist="25400" dir="8100000" algn="bl" rotWithShape="0">
              <a:srgbClr val="000000">
                <a:alpha val="10000"/>
              </a:srgbClr>
            </a:outerShdw>
          </a:effectLst>
        </p:spPr>
        <p:txBody>
          <a:bodyPr/>
          <a:lstStyle/>
          <a:p>
            <a:endParaRPr lang="pt-PT"/>
          </a:p>
        </p:txBody>
      </p:sp>
      <p:sp>
        <p:nvSpPr>
          <p:cNvPr id="24" name="Shape 18"/>
          <p:cNvSpPr/>
          <p:nvPr/>
        </p:nvSpPr>
        <p:spPr>
          <a:xfrm>
            <a:off x="5463540" y="2971800"/>
            <a:ext cx="457200" cy="457200"/>
          </a:xfrm>
          <a:prstGeom prst="ellipse">
            <a:avLst/>
          </a:prstGeom>
          <a:solidFill>
            <a:srgbClr val="A100FF"/>
          </a:solidFill>
          <a:ln/>
        </p:spPr>
        <p:txBody>
          <a:bodyPr/>
          <a:lstStyle/>
          <a:p>
            <a:endParaRPr lang="pt-PT"/>
          </a:p>
        </p:txBody>
      </p:sp>
      <p:pic>
        <p:nvPicPr>
          <p:cNvPr id="25" name="Image 4" descr="preencoded.png"/>
          <p:cNvPicPr>
            <a:picLocks noChangeAspect="1"/>
          </p:cNvPicPr>
          <p:nvPr/>
        </p:nvPicPr>
        <p:blipFill>
          <a:blip r:embed="rId6"/>
          <a:stretch>
            <a:fillRect/>
          </a:stretch>
        </p:blipFill>
        <p:spPr>
          <a:xfrm>
            <a:off x="5545836" y="3054096"/>
            <a:ext cx="292608" cy="292608"/>
          </a:xfrm>
          <a:prstGeom prst="rect">
            <a:avLst/>
          </a:prstGeom>
        </p:spPr>
      </p:pic>
      <p:sp>
        <p:nvSpPr>
          <p:cNvPr id="26" name="Text 19"/>
          <p:cNvSpPr/>
          <p:nvPr/>
        </p:nvSpPr>
        <p:spPr>
          <a:xfrm>
            <a:off x="4800600" y="3520440"/>
            <a:ext cx="1783080" cy="457200"/>
          </a:xfrm>
          <a:prstGeom prst="rect">
            <a:avLst/>
          </a:prstGeom>
          <a:noFill/>
          <a:ln/>
        </p:spPr>
        <p:txBody>
          <a:bodyPr wrap="square" lIns="0" tIns="0" rIns="0" bIns="0" rtlCol="0" anchor="ctr"/>
          <a:lstStyle/>
          <a:p>
            <a:pPr marL="0" indent="0" algn="ctr">
              <a:buNone/>
            </a:pPr>
            <a:r>
              <a:rPr lang="en-US" sz="1300" b="1" dirty="0">
                <a:solidFill>
                  <a:srgbClr val="0B0B1A"/>
                </a:solidFill>
                <a:latin typeface="Trebuchet MS" pitchFamily="34" charset="0"/>
                <a:ea typeface="Trebuchet MS" pitchFamily="34" charset="-122"/>
                <a:cs typeface="Trebuchet MS" pitchFamily="34" charset="-120"/>
              </a:rPr>
              <a:t>Matcher</a:t>
            </a:r>
            <a:endParaRPr lang="en-US" sz="1300" dirty="0"/>
          </a:p>
          <a:p>
            <a:pPr marL="0" indent="0" algn="ctr">
              <a:buNone/>
            </a:pPr>
            <a:r>
              <a:rPr lang="en-US" sz="1300" b="1" dirty="0">
                <a:solidFill>
                  <a:srgbClr val="0B0B1A"/>
                </a:solidFill>
                <a:latin typeface="Trebuchet MS" pitchFamily="34" charset="0"/>
                <a:ea typeface="Trebuchet MS" pitchFamily="34" charset="-122"/>
                <a:cs typeface="Trebuchet MS" pitchFamily="34" charset="-120"/>
              </a:rPr>
              <a:t>Agent</a:t>
            </a:r>
            <a:endParaRPr lang="en-US" sz="1300" dirty="0"/>
          </a:p>
        </p:txBody>
      </p:sp>
      <p:sp>
        <p:nvSpPr>
          <p:cNvPr id="27" name="Text 20"/>
          <p:cNvSpPr/>
          <p:nvPr/>
        </p:nvSpPr>
        <p:spPr>
          <a:xfrm>
            <a:off x="4937760" y="3977640"/>
            <a:ext cx="1508760" cy="41148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Compares candidate data with the job info and score it</a:t>
            </a:r>
            <a:endParaRPr lang="en-US" sz="1000" dirty="0"/>
          </a:p>
        </p:txBody>
      </p:sp>
      <p:sp>
        <p:nvSpPr>
          <p:cNvPr id="28" name="Shape 21"/>
          <p:cNvSpPr/>
          <p:nvPr/>
        </p:nvSpPr>
        <p:spPr>
          <a:xfrm>
            <a:off x="7795260" y="2377440"/>
            <a:ext cx="0" cy="411480"/>
          </a:xfrm>
          <a:prstGeom prst="line">
            <a:avLst/>
          </a:prstGeom>
          <a:noFill/>
          <a:ln w="19050">
            <a:solidFill>
              <a:srgbClr val="E0D4F0"/>
            </a:solidFill>
            <a:prstDash val="solid"/>
          </a:ln>
        </p:spPr>
        <p:txBody>
          <a:bodyPr/>
          <a:lstStyle/>
          <a:p>
            <a:endParaRPr lang="pt-PT"/>
          </a:p>
        </p:txBody>
      </p:sp>
      <p:sp>
        <p:nvSpPr>
          <p:cNvPr id="29" name="Shape 22"/>
          <p:cNvSpPr/>
          <p:nvPr/>
        </p:nvSpPr>
        <p:spPr>
          <a:xfrm>
            <a:off x="6903720" y="2788920"/>
            <a:ext cx="1783080" cy="1691640"/>
          </a:xfrm>
          <a:prstGeom prst="rect">
            <a:avLst/>
          </a:prstGeom>
          <a:solidFill>
            <a:srgbClr val="F5F0FF"/>
          </a:solidFill>
          <a:ln/>
          <a:effectLst>
            <a:outerShdw blurRad="101600" dist="25400" dir="8100000" algn="bl" rotWithShape="0">
              <a:srgbClr val="000000">
                <a:alpha val="10000"/>
              </a:srgbClr>
            </a:outerShdw>
          </a:effectLst>
        </p:spPr>
        <p:txBody>
          <a:bodyPr/>
          <a:lstStyle/>
          <a:p>
            <a:endParaRPr lang="pt-PT"/>
          </a:p>
        </p:txBody>
      </p:sp>
      <p:sp>
        <p:nvSpPr>
          <p:cNvPr id="30" name="Shape 23"/>
          <p:cNvSpPr/>
          <p:nvPr/>
        </p:nvSpPr>
        <p:spPr>
          <a:xfrm>
            <a:off x="7566660" y="2971800"/>
            <a:ext cx="457200" cy="457200"/>
          </a:xfrm>
          <a:prstGeom prst="ellipse">
            <a:avLst/>
          </a:prstGeom>
          <a:solidFill>
            <a:srgbClr val="F0E6FF"/>
          </a:solidFill>
          <a:ln/>
        </p:spPr>
        <p:txBody>
          <a:bodyPr/>
          <a:lstStyle/>
          <a:p>
            <a:endParaRPr lang="pt-PT"/>
          </a:p>
        </p:txBody>
      </p:sp>
      <p:pic>
        <p:nvPicPr>
          <p:cNvPr id="31" name="Image 5" descr="preencoded.png"/>
          <p:cNvPicPr>
            <a:picLocks noChangeAspect="1"/>
          </p:cNvPicPr>
          <p:nvPr/>
        </p:nvPicPr>
        <p:blipFill>
          <a:blip r:embed="rId7"/>
          <a:stretch>
            <a:fillRect/>
          </a:stretch>
        </p:blipFill>
        <p:spPr>
          <a:xfrm>
            <a:off x="7648956" y="3054096"/>
            <a:ext cx="292608" cy="292608"/>
          </a:xfrm>
          <a:prstGeom prst="rect">
            <a:avLst/>
          </a:prstGeom>
        </p:spPr>
      </p:pic>
      <p:sp>
        <p:nvSpPr>
          <p:cNvPr id="32" name="Text 24"/>
          <p:cNvSpPr/>
          <p:nvPr/>
        </p:nvSpPr>
        <p:spPr>
          <a:xfrm>
            <a:off x="6903720" y="3520440"/>
            <a:ext cx="1783080" cy="457200"/>
          </a:xfrm>
          <a:prstGeom prst="rect">
            <a:avLst/>
          </a:prstGeom>
          <a:noFill/>
          <a:ln/>
        </p:spPr>
        <p:txBody>
          <a:bodyPr wrap="square" lIns="0" tIns="0" rIns="0" bIns="0" rtlCol="0" anchor="ctr"/>
          <a:lstStyle/>
          <a:p>
            <a:pPr marL="0" indent="0" algn="ctr">
              <a:buNone/>
            </a:pPr>
            <a:r>
              <a:rPr lang="en-US" sz="1300" b="1" dirty="0">
                <a:solidFill>
                  <a:srgbClr val="0B0B1A"/>
                </a:solidFill>
                <a:latin typeface="Trebuchet MS" pitchFamily="34" charset="0"/>
                <a:ea typeface="Trebuchet MS" pitchFamily="34" charset="-122"/>
                <a:cs typeface="Trebuchet MS" pitchFamily="34" charset="-120"/>
              </a:rPr>
              <a:t>Explainer</a:t>
            </a:r>
            <a:endParaRPr lang="en-US" sz="1300" dirty="0"/>
          </a:p>
          <a:p>
            <a:pPr marL="0" indent="0" algn="ctr">
              <a:buNone/>
            </a:pPr>
            <a:r>
              <a:rPr lang="en-US" sz="1300" b="1" dirty="0">
                <a:solidFill>
                  <a:srgbClr val="0B0B1A"/>
                </a:solidFill>
                <a:latin typeface="Trebuchet MS" pitchFamily="34" charset="0"/>
                <a:ea typeface="Trebuchet MS" pitchFamily="34" charset="-122"/>
                <a:cs typeface="Trebuchet MS" pitchFamily="34" charset="-120"/>
              </a:rPr>
              <a:t>Agent</a:t>
            </a:r>
            <a:endParaRPr lang="en-US" sz="1300" dirty="0"/>
          </a:p>
        </p:txBody>
      </p:sp>
      <p:sp>
        <p:nvSpPr>
          <p:cNvPr id="33" name="Text 25"/>
          <p:cNvSpPr/>
          <p:nvPr/>
        </p:nvSpPr>
        <p:spPr>
          <a:xfrm>
            <a:off x="7040880" y="3977640"/>
            <a:ext cx="1508760" cy="41148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Does a summary pear each candidate score</a:t>
            </a:r>
            <a:endParaRPr lang="en-US" sz="1000" dirty="0"/>
          </a:p>
        </p:txBody>
      </p:sp>
      <p:sp>
        <p:nvSpPr>
          <p:cNvPr id="34" name="Shape 26"/>
          <p:cNvSpPr/>
          <p:nvPr/>
        </p:nvSpPr>
        <p:spPr>
          <a:xfrm>
            <a:off x="0" y="4892040"/>
            <a:ext cx="9144000" cy="251460"/>
          </a:xfrm>
          <a:prstGeom prst="rect">
            <a:avLst/>
          </a:prstGeom>
          <a:solidFill>
            <a:srgbClr val="A100FF"/>
          </a:solidFill>
          <a:ln/>
        </p:spPr>
        <p:txBody>
          <a:bodyPr/>
          <a:lstStyle/>
          <a:p>
            <a:endParaRPr lang="pt-PT"/>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A100FF"/>
          </a:solidFill>
          <a:ln/>
        </p:spPr>
        <p:txBody>
          <a:bodyPr/>
          <a:lstStyle/>
          <a:p>
            <a:endParaRPr lang="pt-PT"/>
          </a:p>
        </p:txBody>
      </p:sp>
      <p:sp>
        <p:nvSpPr>
          <p:cNvPr id="3" name="Shape 1"/>
          <p:cNvSpPr/>
          <p:nvPr/>
        </p:nvSpPr>
        <p:spPr>
          <a:xfrm>
            <a:off x="548640" y="411480"/>
            <a:ext cx="502920" cy="502920"/>
          </a:xfrm>
          <a:prstGeom prst="ellipse">
            <a:avLst/>
          </a:prstGeom>
          <a:solidFill>
            <a:srgbClr val="F0E6FF"/>
          </a:solidFill>
          <a:ln/>
        </p:spPr>
        <p:txBody>
          <a:bodyPr/>
          <a:lstStyle/>
          <a:p>
            <a:endParaRPr lang="pt-PT"/>
          </a:p>
        </p:txBody>
      </p:sp>
      <p:pic>
        <p:nvPicPr>
          <p:cNvPr id="4" name="Image 0" descr="preencoded.png"/>
          <p:cNvPicPr>
            <a:picLocks noChangeAspect="1"/>
          </p:cNvPicPr>
          <p:nvPr/>
        </p:nvPicPr>
        <p:blipFill>
          <a:blip r:embed="rId3"/>
          <a:stretch>
            <a:fillRect/>
          </a:stretch>
        </p:blipFill>
        <p:spPr>
          <a:xfrm>
            <a:off x="658368" y="502920"/>
            <a:ext cx="292608" cy="292608"/>
          </a:xfrm>
          <a:prstGeom prst="rect">
            <a:avLst/>
          </a:prstGeom>
        </p:spPr>
      </p:pic>
      <p:sp>
        <p:nvSpPr>
          <p:cNvPr id="5" name="Text 2"/>
          <p:cNvSpPr/>
          <p:nvPr/>
        </p:nvSpPr>
        <p:spPr>
          <a:xfrm>
            <a:off x="1234440" y="411480"/>
            <a:ext cx="4572000" cy="502920"/>
          </a:xfrm>
          <a:prstGeom prst="rect">
            <a:avLst/>
          </a:prstGeom>
          <a:noFill/>
          <a:ln/>
        </p:spPr>
        <p:txBody>
          <a:bodyPr wrap="square" lIns="0" tIns="0" rIns="0" bIns="0" rtlCol="0" anchor="ctr"/>
          <a:lstStyle/>
          <a:p>
            <a:pPr marL="0" indent="0">
              <a:buNone/>
            </a:pPr>
            <a:r>
              <a:rPr lang="en-US" sz="2800" b="1">
                <a:solidFill>
                  <a:srgbClr val="0B0B1A"/>
                </a:solidFill>
                <a:latin typeface="Trebuchet MS" pitchFamily="34" charset="0"/>
                <a:ea typeface="Trebuchet MS" pitchFamily="34" charset="-122"/>
                <a:cs typeface="Trebuchet MS" pitchFamily="34" charset="-120"/>
              </a:rPr>
              <a:t>Reflections</a:t>
            </a:r>
            <a:endParaRPr lang="en-US" sz="2800" dirty="0"/>
          </a:p>
        </p:txBody>
      </p:sp>
      <p:sp>
        <p:nvSpPr>
          <p:cNvPr id="6" name="Text 3"/>
          <p:cNvSpPr/>
          <p:nvPr/>
        </p:nvSpPr>
        <p:spPr>
          <a:xfrm>
            <a:off x="548640" y="1097280"/>
            <a:ext cx="7772400" cy="36576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What we would do differently with more time</a:t>
            </a:r>
            <a:endParaRPr lang="en-US" sz="1400" dirty="0"/>
          </a:p>
        </p:txBody>
      </p:sp>
      <p:sp>
        <p:nvSpPr>
          <p:cNvPr id="19" name="Shape 16"/>
          <p:cNvSpPr/>
          <p:nvPr/>
        </p:nvSpPr>
        <p:spPr>
          <a:xfrm>
            <a:off x="0" y="4892040"/>
            <a:ext cx="9144000" cy="251460"/>
          </a:xfrm>
          <a:prstGeom prst="rect">
            <a:avLst/>
          </a:prstGeom>
          <a:solidFill>
            <a:srgbClr val="A100FF"/>
          </a:solidFill>
          <a:ln/>
        </p:spPr>
        <p:txBody>
          <a:bodyPr/>
          <a:lstStyle/>
          <a:p>
            <a:endParaRPr lang="pt-PT"/>
          </a:p>
        </p:txBody>
      </p:sp>
      <p:sp>
        <p:nvSpPr>
          <p:cNvPr id="7" name="TextBox 6">
            <a:extLst>
              <a:ext uri="{FF2B5EF4-FFF2-40B4-BE49-F238E27FC236}">
                <a16:creationId xmlns:a16="http://schemas.microsoft.com/office/drawing/2014/main" id="{1F5D939C-E044-8F06-2DF8-F3B39EF1DF1C}"/>
              </a:ext>
            </a:extLst>
          </p:cNvPr>
          <p:cNvSpPr txBox="1"/>
          <p:nvPr/>
        </p:nvSpPr>
        <p:spPr>
          <a:xfrm>
            <a:off x="548640" y="1807698"/>
            <a:ext cx="8180363" cy="923330"/>
          </a:xfrm>
          <a:prstGeom prst="rect">
            <a:avLst/>
          </a:prstGeom>
          <a:noFill/>
        </p:spPr>
        <p:txBody>
          <a:bodyPr wrap="square" rtlCol="0">
            <a:spAutoFit/>
          </a:bodyPr>
          <a:lstStyle/>
          <a:p>
            <a:r>
              <a:rPr lang="en-US"/>
              <a:t>With more time, we would refine the process to dynamically source candidates from public professional data sources based on the job requirements extracted by the first agent, instead of relying on a mock CV dataset.</a:t>
            </a:r>
            <a:endParaRPr lang="pt-PT"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TotalTime>
  <Words>138</Words>
  <Application>Microsoft Office PowerPoint</Application>
  <PresentationFormat>On-screen Show (16:9)</PresentationFormat>
  <Paragraphs>38</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Trebuchet MS</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Barbosa Diniz, Sofia</dc:creator>
  <cp:lastModifiedBy>Barbosa Diniz, Sofia</cp:lastModifiedBy>
  <cp:revision>1</cp:revision>
  <dcterms:created xsi:type="dcterms:W3CDTF">2026-05-15T12:49:43Z</dcterms:created>
  <dcterms:modified xsi:type="dcterms:W3CDTF">2026-05-15T14:02:56Z</dcterms:modified>
</cp:coreProperties>
</file>