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AEFC33C-B7B0-4D95-8F53-B2D965314B6D}" type="slidenum"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283726A-B566-48FA-B407-BF624583142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1D96DCA-AB74-456E-8A72-45DB74171BC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FBDD59F-513C-4390-98AA-BA91030BF97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8285CA0-4138-431B-B995-A5296A6E905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pt-PT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pt-PT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pt-PT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pt-PT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pt-PT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pt-PT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pt-PT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943600" y="0"/>
            <a:ext cx="3200040" cy="1096920"/>
          </a:xfrm>
          <a:prstGeom prst="rect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31520" y="1645920"/>
            <a:ext cx="548280" cy="54360"/>
          </a:xfrm>
          <a:prstGeom prst="rect">
            <a:avLst/>
          </a:prstGeom>
          <a:solidFill>
            <a:srgbClr val="b733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731520" y="187452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1" name="Text 2"/>
          <p:cNvSpPr/>
          <p:nvPr/>
        </p:nvSpPr>
        <p:spPr>
          <a:xfrm>
            <a:off x="731520" y="2377440"/>
            <a:ext cx="6400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Trebuchet MS"/>
                <a:ea typeface="Trebuchet MS"/>
              </a:rPr>
              <a:t>TalentMatch AI</a:t>
            </a:r>
            <a:endParaRPr b="0" lang="pt-PT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Trebuchet MS"/>
                <a:ea typeface="Trebuchet MS"/>
              </a:rPr>
              <a:t>Pitch Demo</a:t>
            </a:r>
            <a:endParaRPr b="0" lang="pt-PT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731520" y="3931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548640" y="411480"/>
            <a:ext cx="502560" cy="502560"/>
          </a:xfrm>
          <a:prstGeom prst="ellipse">
            <a:avLst/>
          </a:prstGeom>
          <a:solidFill>
            <a:srgbClr val="f0e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" name="Image 0" descr="preencoded.png"/>
          <p:cNvPicPr/>
          <p:nvPr/>
        </p:nvPicPr>
        <p:blipFill>
          <a:blip r:embed="rId1"/>
          <a:stretch/>
        </p:blipFill>
        <p:spPr>
          <a:xfrm>
            <a:off x="658440" y="50292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7" name="Text 2"/>
          <p:cNvSpPr/>
          <p:nvPr/>
        </p:nvSpPr>
        <p:spPr>
          <a:xfrm>
            <a:off x="1234440" y="41148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b0b1a"/>
                </a:solidFill>
                <a:latin typeface="Trebuchet MS"/>
                <a:ea typeface="Trebuchet MS"/>
              </a:rPr>
              <a:t>Live Demo</a:t>
            </a:r>
            <a:endParaRPr b="0" lang="pt-PT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48640" y="109728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Automated candidate-to-job matching pipeline in action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627480" y="1737360"/>
            <a:ext cx="2468520" cy="2285640"/>
          </a:xfrm>
          <a:prstGeom prst="rect">
            <a:avLst/>
          </a:prstGeom>
          <a:solidFill>
            <a:srgbClr val="f5f0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1554480" y="2011680"/>
            <a:ext cx="548280" cy="548280"/>
          </a:xfrm>
          <a:prstGeom prst="ellipse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" name="Image 1" descr="preencoded.png"/>
          <p:cNvPicPr/>
          <p:nvPr/>
        </p:nvPicPr>
        <p:blipFill>
          <a:blip r:embed="rId2"/>
          <a:stretch/>
        </p:blipFill>
        <p:spPr>
          <a:xfrm>
            <a:off x="1664280" y="21214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2" name="Text 6"/>
          <p:cNvSpPr/>
          <p:nvPr/>
        </p:nvSpPr>
        <p:spPr>
          <a:xfrm>
            <a:off x="731520" y="18745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100ff"/>
                </a:solidFill>
                <a:latin typeface="Trebuchet MS"/>
                <a:ea typeface="Trebuchet MS"/>
              </a:rPr>
              <a:t>1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594360" y="27432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0b1a"/>
                </a:solidFill>
                <a:latin typeface="Trebuchet MS"/>
                <a:ea typeface="Trebuchet MS"/>
              </a:rPr>
              <a:t>Input</a:t>
            </a:r>
            <a:endParaRPr b="0" lang="pt-P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777240" y="315468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Job descriptions with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skills and priorities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3081240" y="2880360"/>
            <a:ext cx="283680" cy="360"/>
          </a:xfrm>
          <a:prstGeom prst="line">
            <a:avLst/>
          </a:prstGeom>
          <a:ln w="25400">
            <a:solidFill>
              <a:srgbClr val="a1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3383280" y="1737360"/>
            <a:ext cx="2468520" cy="2285640"/>
          </a:xfrm>
          <a:prstGeom prst="rect">
            <a:avLst/>
          </a:prstGeom>
          <a:solidFill>
            <a:srgbClr val="f5f0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4343400" y="2011680"/>
            <a:ext cx="548280" cy="548280"/>
          </a:xfrm>
          <a:prstGeom prst="ellipse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8" name="Image 2" descr="preencoded.png"/>
          <p:cNvPicPr/>
          <p:nvPr/>
        </p:nvPicPr>
        <p:blipFill>
          <a:blip r:embed="rId3"/>
          <a:stretch/>
        </p:blipFill>
        <p:spPr>
          <a:xfrm>
            <a:off x="4453200" y="21214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9" name="Text 12"/>
          <p:cNvSpPr/>
          <p:nvPr/>
        </p:nvSpPr>
        <p:spPr>
          <a:xfrm>
            <a:off x="3520440" y="18745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100ff"/>
                </a:solidFill>
                <a:latin typeface="Trebuchet MS"/>
                <a:ea typeface="Trebuchet MS"/>
              </a:rPr>
              <a:t>2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3383280" y="27432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0b1a"/>
                </a:solidFill>
                <a:latin typeface="Trebuchet MS"/>
                <a:ea typeface="Trebuchet MS"/>
              </a:rPr>
              <a:t>Processing</a:t>
            </a:r>
            <a:endParaRPr b="0" lang="pt-P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3566160" y="315468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Agents parse data,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match and score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5870160" y="2880360"/>
            <a:ext cx="283680" cy="360"/>
          </a:xfrm>
          <a:prstGeom prst="line">
            <a:avLst/>
          </a:prstGeom>
          <a:ln w="25400">
            <a:solidFill>
              <a:srgbClr val="a1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Shape 16"/>
          <p:cNvSpPr/>
          <p:nvPr/>
        </p:nvSpPr>
        <p:spPr>
          <a:xfrm>
            <a:off x="6172200" y="1737360"/>
            <a:ext cx="2468520" cy="2285640"/>
          </a:xfrm>
          <a:prstGeom prst="rect">
            <a:avLst/>
          </a:prstGeom>
          <a:solidFill>
            <a:srgbClr val="f5f0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7132320" y="2011680"/>
            <a:ext cx="548280" cy="548280"/>
          </a:xfrm>
          <a:prstGeom prst="ellipse">
            <a:avLst/>
          </a:prstGeom>
          <a:solidFill>
            <a:srgbClr val="f0e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5" name="Image 3" descr="preencoded.png"/>
          <p:cNvPicPr/>
          <p:nvPr/>
        </p:nvPicPr>
        <p:blipFill>
          <a:blip r:embed="rId4"/>
          <a:stretch/>
        </p:blipFill>
        <p:spPr>
          <a:xfrm>
            <a:off x="7242120" y="21214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6" name="Text 18"/>
          <p:cNvSpPr/>
          <p:nvPr/>
        </p:nvSpPr>
        <p:spPr>
          <a:xfrm>
            <a:off x="6309360" y="18745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100ff"/>
                </a:solidFill>
                <a:latin typeface="Trebuchet MS"/>
                <a:ea typeface="Trebuchet MS"/>
              </a:rPr>
              <a:t>3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6172200" y="27432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0b1a"/>
                </a:solidFill>
                <a:latin typeface="Trebuchet MS"/>
                <a:ea typeface="Trebuchet MS"/>
              </a:rPr>
              <a:t>Output</a:t>
            </a:r>
            <a:endParaRPr b="0" lang="pt-P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0"/>
          <p:cNvSpPr/>
          <p:nvPr/>
        </p:nvSpPr>
        <p:spPr>
          <a:xfrm>
            <a:off x="6355080" y="315468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Ranked candidates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with match scores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2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548640" y="411480"/>
            <a:ext cx="502560" cy="502560"/>
          </a:xfrm>
          <a:prstGeom prst="ellipse">
            <a:avLst/>
          </a:prstGeom>
          <a:solidFill>
            <a:srgbClr val="f0e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1"/>
          <a:stretch/>
        </p:blipFill>
        <p:spPr>
          <a:xfrm>
            <a:off x="658440" y="50292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43" name="Text 2"/>
          <p:cNvSpPr/>
          <p:nvPr/>
        </p:nvSpPr>
        <p:spPr>
          <a:xfrm>
            <a:off x="1234440" y="411480"/>
            <a:ext cx="5486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b0b1a"/>
                </a:solidFill>
                <a:latin typeface="Trebuchet MS"/>
                <a:ea typeface="Trebuchet MS"/>
              </a:rPr>
              <a:t>Agent Architecture</a:t>
            </a:r>
            <a:endParaRPr b="0" lang="pt-PT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548640" y="109728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How TalentMatch AI agents collaborate to rank candidates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951120" y="1691640"/>
            <a:ext cx="7369560" cy="685440"/>
          </a:xfrm>
          <a:prstGeom prst="rect">
            <a:avLst/>
          </a:prstGeom>
          <a:solidFill>
            <a:srgbClr val="0b0b1a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6" name="Image 1" descr="preencoded.png"/>
          <p:cNvPicPr/>
          <p:nvPr/>
        </p:nvPicPr>
        <p:blipFill>
          <a:blip r:embed="rId2"/>
          <a:stretch/>
        </p:blipFill>
        <p:spPr>
          <a:xfrm>
            <a:off x="3566160" y="18014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47" name="Text 5"/>
          <p:cNvSpPr/>
          <p:nvPr/>
        </p:nvSpPr>
        <p:spPr>
          <a:xfrm>
            <a:off x="3977640" y="169164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Trebuchet MS"/>
                <a:ea typeface="Trebuchet MS"/>
              </a:rPr>
              <a:t>Orchestrator Agent</a:t>
            </a:r>
            <a:endParaRPr b="0" lang="pt-PT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6"/>
          <p:cNvSpPr/>
          <p:nvPr/>
        </p:nvSpPr>
        <p:spPr>
          <a:xfrm>
            <a:off x="1485720" y="2377440"/>
            <a:ext cx="360" cy="411480"/>
          </a:xfrm>
          <a:prstGeom prst="line">
            <a:avLst/>
          </a:prstGeom>
          <a:ln w="19050">
            <a:solidFill>
              <a:srgbClr val="e0d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594360" y="2788920"/>
            <a:ext cx="1782720" cy="1691280"/>
          </a:xfrm>
          <a:prstGeom prst="rect">
            <a:avLst/>
          </a:prstGeom>
          <a:solidFill>
            <a:srgbClr val="f5f0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1257480" y="2971800"/>
            <a:ext cx="456840" cy="456840"/>
          </a:xfrm>
          <a:prstGeom prst="ellipse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1" name="Image 2" descr="preencoded.png"/>
          <p:cNvPicPr/>
          <p:nvPr/>
        </p:nvPicPr>
        <p:blipFill>
          <a:blip r:embed="rId3"/>
          <a:stretch/>
        </p:blipFill>
        <p:spPr>
          <a:xfrm>
            <a:off x="1339560" y="3054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52" name="Text 9"/>
          <p:cNvSpPr/>
          <p:nvPr/>
        </p:nvSpPr>
        <p:spPr>
          <a:xfrm>
            <a:off x="594360" y="352044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0b1a"/>
                </a:solidFill>
                <a:latin typeface="Trebuchet MS"/>
                <a:ea typeface="Trebuchet MS"/>
              </a:rPr>
              <a:t>Job Analyzer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0b1a"/>
                </a:solidFill>
                <a:latin typeface="Trebuchet MS"/>
                <a:ea typeface="Trebuchet MS"/>
              </a:rPr>
              <a:t>Agent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731520" y="397764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Reads jobs descriptions and extracts keywords</a:t>
            </a:r>
            <a:endParaRPr b="0" lang="pt-P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3588840" y="2377440"/>
            <a:ext cx="360" cy="411480"/>
          </a:xfrm>
          <a:prstGeom prst="line">
            <a:avLst/>
          </a:prstGeom>
          <a:ln w="19050">
            <a:solidFill>
              <a:srgbClr val="e0d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2697480" y="2788920"/>
            <a:ext cx="1782720" cy="1691280"/>
          </a:xfrm>
          <a:prstGeom prst="rect">
            <a:avLst/>
          </a:prstGeom>
          <a:solidFill>
            <a:srgbClr val="f5f0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3360600" y="2971800"/>
            <a:ext cx="456840" cy="456840"/>
          </a:xfrm>
          <a:prstGeom prst="ellipse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7" name="Image 3" descr="preencoded.png"/>
          <p:cNvPicPr/>
          <p:nvPr/>
        </p:nvPicPr>
        <p:blipFill>
          <a:blip r:embed="rId4"/>
          <a:stretch/>
        </p:blipFill>
        <p:spPr>
          <a:xfrm>
            <a:off x="3442680" y="3054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58" name="Text 14"/>
          <p:cNvSpPr/>
          <p:nvPr/>
        </p:nvSpPr>
        <p:spPr>
          <a:xfrm>
            <a:off x="2651760" y="351072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0b1a"/>
                </a:solidFill>
                <a:latin typeface="Trebuchet MS"/>
                <a:ea typeface="Trebuchet MS"/>
              </a:rPr>
              <a:t>Profile Parser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0b1a"/>
                </a:solidFill>
                <a:latin typeface="Trebuchet MS"/>
                <a:ea typeface="Trebuchet MS"/>
              </a:rPr>
              <a:t>Agent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2834640" y="397764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Peer each candidate exports relevant data</a:t>
            </a:r>
            <a:endParaRPr b="0" lang="pt-P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5691960" y="2377440"/>
            <a:ext cx="360" cy="411480"/>
          </a:xfrm>
          <a:prstGeom prst="line">
            <a:avLst/>
          </a:prstGeom>
          <a:ln w="19050">
            <a:solidFill>
              <a:srgbClr val="e0d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Shape 17"/>
          <p:cNvSpPr/>
          <p:nvPr/>
        </p:nvSpPr>
        <p:spPr>
          <a:xfrm>
            <a:off x="4800600" y="2788920"/>
            <a:ext cx="1782720" cy="1691280"/>
          </a:xfrm>
          <a:prstGeom prst="rect">
            <a:avLst/>
          </a:prstGeom>
          <a:solidFill>
            <a:srgbClr val="f5f0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5463720" y="2971800"/>
            <a:ext cx="456840" cy="456840"/>
          </a:xfrm>
          <a:prstGeom prst="ellipse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3" name="Image 4" descr="preencoded.png"/>
          <p:cNvPicPr/>
          <p:nvPr/>
        </p:nvPicPr>
        <p:blipFill>
          <a:blip r:embed="rId5"/>
          <a:stretch/>
        </p:blipFill>
        <p:spPr>
          <a:xfrm>
            <a:off x="5545800" y="3054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64" name="Text 19"/>
          <p:cNvSpPr/>
          <p:nvPr/>
        </p:nvSpPr>
        <p:spPr>
          <a:xfrm>
            <a:off x="4800600" y="352044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0b1a"/>
                </a:solidFill>
                <a:latin typeface="Trebuchet MS"/>
                <a:ea typeface="Trebuchet MS"/>
              </a:rPr>
              <a:t>Matcher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0b1a"/>
                </a:solidFill>
                <a:latin typeface="Trebuchet MS"/>
                <a:ea typeface="Trebuchet MS"/>
              </a:rPr>
              <a:t>Agent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0"/>
          <p:cNvSpPr/>
          <p:nvPr/>
        </p:nvSpPr>
        <p:spPr>
          <a:xfrm>
            <a:off x="4937760" y="397764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Compares candidate data with the job info and score it</a:t>
            </a:r>
            <a:endParaRPr b="0" lang="pt-P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21"/>
          <p:cNvSpPr/>
          <p:nvPr/>
        </p:nvSpPr>
        <p:spPr>
          <a:xfrm>
            <a:off x="7795080" y="2377440"/>
            <a:ext cx="360" cy="411480"/>
          </a:xfrm>
          <a:prstGeom prst="line">
            <a:avLst/>
          </a:prstGeom>
          <a:ln w="19050">
            <a:solidFill>
              <a:srgbClr val="e0d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Shape 22"/>
          <p:cNvSpPr/>
          <p:nvPr/>
        </p:nvSpPr>
        <p:spPr>
          <a:xfrm>
            <a:off x="6903720" y="2788920"/>
            <a:ext cx="1782720" cy="1691280"/>
          </a:xfrm>
          <a:prstGeom prst="rect">
            <a:avLst/>
          </a:prstGeom>
          <a:solidFill>
            <a:srgbClr val="f5f0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Shape 23"/>
          <p:cNvSpPr/>
          <p:nvPr/>
        </p:nvSpPr>
        <p:spPr>
          <a:xfrm>
            <a:off x="7566840" y="2971800"/>
            <a:ext cx="456840" cy="456840"/>
          </a:xfrm>
          <a:prstGeom prst="ellipse">
            <a:avLst/>
          </a:prstGeom>
          <a:solidFill>
            <a:srgbClr val="f0e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9" name="Image 5" descr="preencoded.png"/>
          <p:cNvPicPr/>
          <p:nvPr/>
        </p:nvPicPr>
        <p:blipFill>
          <a:blip r:embed="rId6"/>
          <a:stretch/>
        </p:blipFill>
        <p:spPr>
          <a:xfrm>
            <a:off x="7648920" y="3054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0" name="Text 24"/>
          <p:cNvSpPr/>
          <p:nvPr/>
        </p:nvSpPr>
        <p:spPr>
          <a:xfrm>
            <a:off x="6903720" y="352044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0b1a"/>
                </a:solidFill>
                <a:latin typeface="Trebuchet MS"/>
                <a:ea typeface="Trebuchet MS"/>
              </a:rPr>
              <a:t>Explainer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0b1a"/>
                </a:solidFill>
                <a:latin typeface="Trebuchet MS"/>
                <a:ea typeface="Trebuchet MS"/>
              </a:rPr>
              <a:t>Agent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7040880" y="3977640"/>
            <a:ext cx="1508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Does a summary pear each candidate score</a:t>
            </a:r>
            <a:endParaRPr b="0" lang="pt-P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6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548640" y="411480"/>
            <a:ext cx="502560" cy="502560"/>
          </a:xfrm>
          <a:prstGeom prst="ellipse">
            <a:avLst/>
          </a:prstGeom>
          <a:solidFill>
            <a:srgbClr val="f0e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5" name="Image 0" descr="preencoded.png"/>
          <p:cNvPicPr/>
          <p:nvPr/>
        </p:nvPicPr>
        <p:blipFill>
          <a:blip r:embed="rId1"/>
          <a:stretch/>
        </p:blipFill>
        <p:spPr>
          <a:xfrm>
            <a:off x="658440" y="50292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6" name="Text 2"/>
          <p:cNvSpPr/>
          <p:nvPr/>
        </p:nvSpPr>
        <p:spPr>
          <a:xfrm>
            <a:off x="1234440" y="41148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b0b1a"/>
                </a:solidFill>
                <a:latin typeface="Trebuchet MS"/>
                <a:ea typeface="Trebuchet MS"/>
              </a:rPr>
              <a:t>Reflections</a:t>
            </a:r>
            <a:endParaRPr b="0" lang="pt-PT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548640" y="109728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What we would do differently with more time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6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a1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548640" y="1807560"/>
            <a:ext cx="8179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With more time, we would refine the process to dynamically source candidates from LinkedIn data sources based on the job requirements extracted by the first agent, instead of relying on a mock Profile dataset.</a:t>
            </a: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LibreOffice/24.2.7.2$Linux_X86_64 LibreOffice_project/420$Build-2</Application>
  <AppVersion>15.0000</AppVersion>
  <Words>137</Words>
  <Paragraphs>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2026-05-15T12:49:43Z</dcterms:created>
  <dc:creator>Barbosa Diniz, Sofia</dc:creator>
  <dc:description/>
  <dc:language>pt-PT</dc:language>
  <cp:lastModifiedBy/>
  <dcterms:modified xsi:type="dcterms:W3CDTF">2026-05-15T15:14:32Z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